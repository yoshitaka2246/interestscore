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0" y="4206240"/>
            <a:ext cx="1219169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332720" cy="1645920"/>
          </a:xfrm>
          <a:prstGeom prst="rect">
            <a:avLst/>
          </a:prstGeom>
          <a:noFill/>
        </p:spPr>
        <p:txBody>
          <a:bodyPr wrap="square">
            <a:spAutoFit/>
          </a:bodyPr>
          <a:lstStyle/>
          <a:p>
            <a:pPr algn="l">
              <a:lnSpc>
                <a:spcPct val="120000"/>
              </a:lnSpc>
            </a:pPr>
            <a:r>
              <a:rPr sz="3200" b="1">
                <a:solidFill>
                  <a:srgbClr val="FFFFFF"/>
                </a:solidFill>
                <a:latin typeface="Yu Gothic"/>
              </a:rPr>
              <a:t>画像特徴量を用いた店頭広告に対する</a:t>
            </a:r>
          </a:p>
          <a:p>
            <a:pPr algn="l">
              <a:lnSpc>
                <a:spcPct val="120000"/>
              </a:lnSpc>
            </a:pPr>
            <a:r>
              <a:rPr sz="3200" b="1">
                <a:solidFill>
                  <a:srgbClr val="FFFFFF"/>
                </a:solidFill>
                <a:latin typeface="Yu Gothic"/>
              </a:rPr>
              <a:t>通行人関心度推定手法の提案</a:t>
            </a:r>
          </a:p>
        </p:txBody>
      </p:sp>
      <p:sp>
        <p:nvSpPr>
          <p:cNvPr id="4" name="TextBox 3"/>
          <p:cNvSpPr txBox="1"/>
          <p:nvPr/>
        </p:nvSpPr>
        <p:spPr>
          <a:xfrm>
            <a:off x="914400" y="4343400"/>
            <a:ext cx="10332720" cy="548640"/>
          </a:xfrm>
          <a:prstGeom prst="rect">
            <a:avLst/>
          </a:prstGeom>
          <a:noFill/>
        </p:spPr>
        <p:txBody>
          <a:bodyPr wrap="square">
            <a:spAutoFit/>
          </a:bodyPr>
          <a:lstStyle/>
          <a:p>
            <a:pPr algn="l"/>
            <a:r>
              <a:rPr sz="2000" b="1">
                <a:solidFill>
                  <a:srgbClr val="BFD3E6"/>
                </a:solidFill>
                <a:latin typeface="Yu Gothic"/>
              </a:rPr>
              <a:t>初回ゼミ進捗報告</a:t>
            </a:r>
          </a:p>
        </p:txBody>
      </p:sp>
      <p:sp>
        <p:nvSpPr>
          <p:cNvPr id="5" name="TextBox 4"/>
          <p:cNvSpPr txBox="1"/>
          <p:nvPr/>
        </p:nvSpPr>
        <p:spPr>
          <a:xfrm>
            <a:off x="914400" y="5943600"/>
            <a:ext cx="10332720" cy="548640"/>
          </a:xfrm>
          <a:prstGeom prst="rect">
            <a:avLst/>
          </a:prstGeom>
          <a:noFill/>
        </p:spPr>
        <p:txBody>
          <a:bodyPr wrap="square">
            <a:spAutoFit/>
          </a:bodyPr>
          <a:lstStyle/>
          <a:p>
            <a:pPr algn="l"/>
            <a:r>
              <a:rPr sz="1600" b="0">
                <a:solidFill>
                  <a:srgbClr val="FFFFFF"/>
                </a:solidFill>
                <a:latin typeface="Yu Gothic"/>
              </a:rPr>
              <a:t>2026/07/08　〇〇研究室　氏名</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601200" cy="731520"/>
          </a:xfrm>
          <a:prstGeom prst="rect">
            <a:avLst/>
          </a:prstGeom>
          <a:noFill/>
        </p:spPr>
        <p:txBody>
          <a:bodyPr wrap="square" anchor="ctr">
            <a:spAutoFit/>
          </a:bodyPr>
          <a:lstStyle/>
          <a:p>
            <a:pPr algn="l"/>
            <a:r>
              <a:rPr sz="2600" b="1">
                <a:solidFill>
                  <a:srgbClr val="FFFFFF"/>
                </a:solidFill>
                <a:latin typeface="Yu Gothic"/>
              </a:rPr>
              <a:t>目次</a:t>
            </a:r>
          </a:p>
        </p:txBody>
      </p:sp>
      <p:sp>
        <p:nvSpPr>
          <p:cNvPr id="5" name="TextBox 4"/>
          <p:cNvSpPr txBox="1"/>
          <p:nvPr/>
        </p:nvSpPr>
        <p:spPr>
          <a:xfrm>
            <a:off x="9692640" y="137160"/>
            <a:ext cx="2194560" cy="320040"/>
          </a:xfrm>
          <a:prstGeom prst="rect">
            <a:avLst/>
          </a:prstGeom>
          <a:noFill/>
        </p:spPr>
        <p:txBody>
          <a:bodyPr wrap="square">
            <a:spAutoFit/>
          </a:bodyPr>
          <a:lstStyle/>
          <a:p>
            <a:pPr algn="r"/>
            <a:r>
              <a:rPr sz="1100" b="0">
                <a:solidFill>
                  <a:srgbClr val="BFD3E6"/>
                </a:solidFill>
                <a:latin typeface="Yu Gothic"/>
              </a:rPr>
              <a:t>目次</a:t>
            </a:r>
          </a:p>
        </p:txBody>
      </p:sp>
      <p:sp>
        <p:nvSpPr>
          <p:cNvPr id="6" name="TextBox 5"/>
          <p:cNvSpPr txBox="1"/>
          <p:nvPr/>
        </p:nvSpPr>
        <p:spPr>
          <a:xfrm>
            <a:off x="9692640" y="502920"/>
            <a:ext cx="2194560" cy="365760"/>
          </a:xfrm>
          <a:prstGeom prst="rect">
            <a:avLst/>
          </a:prstGeom>
          <a:noFill/>
        </p:spPr>
        <p:txBody>
          <a:bodyPr wrap="square">
            <a:spAutoFit/>
          </a:bodyPr>
          <a:lstStyle/>
          <a:p>
            <a:pPr algn="r"/>
            <a:r>
              <a:rPr sz="1300" b="0">
                <a:solidFill>
                  <a:srgbClr val="BFD3E6"/>
                </a:solidFill>
                <a:latin typeface="Yu Gothic"/>
              </a:rPr>
              <a:t>NO.1</a:t>
            </a:r>
          </a:p>
        </p:txBody>
      </p:sp>
      <p:sp>
        <p:nvSpPr>
          <p:cNvPr id="7" name="TextBox 6"/>
          <p:cNvSpPr txBox="1"/>
          <p:nvPr/>
        </p:nvSpPr>
        <p:spPr>
          <a:xfrm>
            <a:off x="502920" y="6510528"/>
            <a:ext cx="7315200" cy="274320"/>
          </a:xfrm>
          <a:prstGeom prst="rect">
            <a:avLst/>
          </a:prstGeom>
          <a:noFill/>
        </p:spPr>
        <p:txBody>
          <a:bodyPr wrap="square">
            <a:spAutoFit/>
          </a:bodyPr>
          <a:lstStyle/>
          <a:p>
            <a:pPr algn="l"/>
            <a:r>
              <a:rPr sz="900" b="0">
                <a:solidFill>
                  <a:srgbClr val="6B7680"/>
                </a:solidFill>
                <a:latin typeface="Yu Gothic"/>
              </a:rPr>
              <a:t>画像特徴量を用いた店頭広告に対する通行人関心度推定手法の提案</a:t>
            </a:r>
          </a:p>
        </p:txBody>
      </p:sp>
      <p:sp>
        <p:nvSpPr>
          <p:cNvPr id="8" name="Oval 7"/>
          <p:cNvSpPr/>
          <p:nvPr/>
        </p:nvSpPr>
        <p:spPr>
          <a:xfrm>
            <a:off x="914400" y="1554480"/>
            <a:ext cx="457200" cy="457200"/>
          </a:xfrm>
          <a:prstGeom prst="ellipse">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Yu Gothic"/>
              </a:rPr>
              <a:t>1</a:t>
            </a:r>
          </a:p>
        </p:txBody>
      </p:sp>
      <p:sp>
        <p:nvSpPr>
          <p:cNvPr id="9" name="TextBox 8"/>
          <p:cNvSpPr txBox="1"/>
          <p:nvPr/>
        </p:nvSpPr>
        <p:spPr>
          <a:xfrm>
            <a:off x="1645920" y="1554480"/>
            <a:ext cx="9144000" cy="457200"/>
          </a:xfrm>
          <a:prstGeom prst="rect">
            <a:avLst/>
          </a:prstGeom>
          <a:noFill/>
        </p:spPr>
        <p:txBody>
          <a:bodyPr wrap="square" anchor="ctr">
            <a:spAutoFit/>
          </a:bodyPr>
          <a:lstStyle/>
          <a:p>
            <a:pPr algn="l"/>
            <a:r>
              <a:rPr sz="2000" b="0">
                <a:solidFill>
                  <a:srgbClr val="2C333A"/>
                </a:solidFill>
                <a:latin typeface="Yu Gothic"/>
              </a:rPr>
              <a:t>1. はじめに（研究背景・研究目的）</a:t>
            </a:r>
          </a:p>
        </p:txBody>
      </p:sp>
      <p:sp>
        <p:nvSpPr>
          <p:cNvPr id="10" name="Oval 9"/>
          <p:cNvSpPr/>
          <p:nvPr/>
        </p:nvSpPr>
        <p:spPr>
          <a:xfrm>
            <a:off x="914400" y="2331720"/>
            <a:ext cx="457200" cy="457200"/>
          </a:xfrm>
          <a:prstGeom prst="ellipse">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Yu Gothic"/>
              </a:rPr>
              <a:t>2</a:t>
            </a:r>
          </a:p>
        </p:txBody>
      </p:sp>
      <p:sp>
        <p:nvSpPr>
          <p:cNvPr id="11" name="TextBox 10"/>
          <p:cNvSpPr txBox="1"/>
          <p:nvPr/>
        </p:nvSpPr>
        <p:spPr>
          <a:xfrm>
            <a:off x="1645920" y="2331720"/>
            <a:ext cx="9144000" cy="457200"/>
          </a:xfrm>
          <a:prstGeom prst="rect">
            <a:avLst/>
          </a:prstGeom>
          <a:noFill/>
        </p:spPr>
        <p:txBody>
          <a:bodyPr wrap="square" anchor="ctr">
            <a:spAutoFit/>
          </a:bodyPr>
          <a:lstStyle/>
          <a:p>
            <a:pPr algn="l"/>
            <a:r>
              <a:rPr sz="2000" b="0">
                <a:solidFill>
                  <a:srgbClr val="2C333A"/>
                </a:solidFill>
                <a:latin typeface="Yu Gothic"/>
              </a:rPr>
              <a:t>2. 提案手法（Interest Score）</a:t>
            </a:r>
          </a:p>
        </p:txBody>
      </p:sp>
      <p:sp>
        <p:nvSpPr>
          <p:cNvPr id="12" name="Oval 11"/>
          <p:cNvSpPr/>
          <p:nvPr/>
        </p:nvSpPr>
        <p:spPr>
          <a:xfrm>
            <a:off x="914400" y="3108960"/>
            <a:ext cx="457200" cy="457200"/>
          </a:xfrm>
          <a:prstGeom prst="ellipse">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Yu Gothic"/>
              </a:rPr>
              <a:t>3</a:t>
            </a:r>
          </a:p>
        </p:txBody>
      </p:sp>
      <p:sp>
        <p:nvSpPr>
          <p:cNvPr id="13" name="TextBox 12"/>
          <p:cNvSpPr txBox="1"/>
          <p:nvPr/>
        </p:nvSpPr>
        <p:spPr>
          <a:xfrm>
            <a:off x="1645920" y="3108960"/>
            <a:ext cx="9144000" cy="457200"/>
          </a:xfrm>
          <a:prstGeom prst="rect">
            <a:avLst/>
          </a:prstGeom>
          <a:noFill/>
        </p:spPr>
        <p:txBody>
          <a:bodyPr wrap="square" anchor="ctr">
            <a:spAutoFit/>
          </a:bodyPr>
          <a:lstStyle/>
          <a:p>
            <a:pPr algn="l"/>
            <a:r>
              <a:rPr sz="2000" b="0">
                <a:solidFill>
                  <a:srgbClr val="2C333A"/>
                </a:solidFill>
                <a:latin typeface="Yu Gothic"/>
              </a:rPr>
              <a:t>3. 研究計画</a:t>
            </a:r>
          </a:p>
        </p:txBody>
      </p:sp>
      <p:sp>
        <p:nvSpPr>
          <p:cNvPr id="14" name="Oval 13"/>
          <p:cNvSpPr/>
          <p:nvPr/>
        </p:nvSpPr>
        <p:spPr>
          <a:xfrm>
            <a:off x="914400" y="3886200"/>
            <a:ext cx="457200" cy="457200"/>
          </a:xfrm>
          <a:prstGeom prst="ellipse">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Yu Gothic"/>
              </a:rPr>
              <a:t>4</a:t>
            </a:r>
          </a:p>
        </p:txBody>
      </p:sp>
      <p:sp>
        <p:nvSpPr>
          <p:cNvPr id="15" name="TextBox 14"/>
          <p:cNvSpPr txBox="1"/>
          <p:nvPr/>
        </p:nvSpPr>
        <p:spPr>
          <a:xfrm>
            <a:off x="1645920" y="3886200"/>
            <a:ext cx="9144000" cy="457200"/>
          </a:xfrm>
          <a:prstGeom prst="rect">
            <a:avLst/>
          </a:prstGeom>
          <a:noFill/>
        </p:spPr>
        <p:txBody>
          <a:bodyPr wrap="square" anchor="ctr">
            <a:spAutoFit/>
          </a:bodyPr>
          <a:lstStyle/>
          <a:p>
            <a:pPr algn="l"/>
            <a:r>
              <a:rPr sz="2000" b="0">
                <a:solidFill>
                  <a:srgbClr val="2C333A"/>
                </a:solidFill>
                <a:latin typeface="Yu Gothic"/>
              </a:rPr>
              <a:t>4. 今回実施した内容</a:t>
            </a:r>
          </a:p>
        </p:txBody>
      </p:sp>
      <p:sp>
        <p:nvSpPr>
          <p:cNvPr id="16" name="Oval 15"/>
          <p:cNvSpPr/>
          <p:nvPr/>
        </p:nvSpPr>
        <p:spPr>
          <a:xfrm>
            <a:off x="914400" y="4663440"/>
            <a:ext cx="457200" cy="457200"/>
          </a:xfrm>
          <a:prstGeom prst="ellipse">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Yu Gothic"/>
              </a:rPr>
              <a:t>5</a:t>
            </a:r>
          </a:p>
        </p:txBody>
      </p:sp>
      <p:sp>
        <p:nvSpPr>
          <p:cNvPr id="17" name="TextBox 16"/>
          <p:cNvSpPr txBox="1"/>
          <p:nvPr/>
        </p:nvSpPr>
        <p:spPr>
          <a:xfrm>
            <a:off x="1645920" y="4663440"/>
            <a:ext cx="9144000" cy="457200"/>
          </a:xfrm>
          <a:prstGeom prst="rect">
            <a:avLst/>
          </a:prstGeom>
          <a:noFill/>
        </p:spPr>
        <p:txBody>
          <a:bodyPr wrap="square" anchor="ctr">
            <a:spAutoFit/>
          </a:bodyPr>
          <a:lstStyle/>
          <a:p>
            <a:pPr algn="l"/>
            <a:r>
              <a:rPr sz="2000" b="0">
                <a:solidFill>
                  <a:srgbClr val="2C333A"/>
                </a:solidFill>
                <a:latin typeface="Yu Gothic"/>
              </a:rPr>
              <a:t>5. 結果</a:t>
            </a:r>
          </a:p>
        </p:txBody>
      </p:sp>
      <p:sp>
        <p:nvSpPr>
          <p:cNvPr id="18" name="Oval 17"/>
          <p:cNvSpPr/>
          <p:nvPr/>
        </p:nvSpPr>
        <p:spPr>
          <a:xfrm>
            <a:off x="914400" y="5440680"/>
            <a:ext cx="457200" cy="457200"/>
          </a:xfrm>
          <a:prstGeom prst="ellipse">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Yu Gothic"/>
              </a:rPr>
              <a:t>6</a:t>
            </a:r>
          </a:p>
        </p:txBody>
      </p:sp>
      <p:sp>
        <p:nvSpPr>
          <p:cNvPr id="19" name="TextBox 18"/>
          <p:cNvSpPr txBox="1"/>
          <p:nvPr/>
        </p:nvSpPr>
        <p:spPr>
          <a:xfrm>
            <a:off x="1645920" y="5440680"/>
            <a:ext cx="9144000" cy="457200"/>
          </a:xfrm>
          <a:prstGeom prst="rect">
            <a:avLst/>
          </a:prstGeom>
          <a:noFill/>
        </p:spPr>
        <p:txBody>
          <a:bodyPr wrap="square" anchor="ctr">
            <a:spAutoFit/>
          </a:bodyPr>
          <a:lstStyle/>
          <a:p>
            <a:pPr algn="l"/>
            <a:r>
              <a:rPr sz="2000" b="0">
                <a:solidFill>
                  <a:srgbClr val="2C333A"/>
                </a:solidFill>
                <a:latin typeface="Yu Gothic"/>
              </a:rPr>
              <a:t>6. 今後</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601200" cy="731520"/>
          </a:xfrm>
          <a:prstGeom prst="rect">
            <a:avLst/>
          </a:prstGeom>
          <a:noFill/>
        </p:spPr>
        <p:txBody>
          <a:bodyPr wrap="square" anchor="ctr">
            <a:spAutoFit/>
          </a:bodyPr>
          <a:lstStyle/>
          <a:p>
            <a:pPr algn="l"/>
            <a:r>
              <a:rPr sz="2600" b="1">
                <a:solidFill>
                  <a:srgbClr val="FFFFFF"/>
                </a:solidFill>
                <a:latin typeface="Yu Gothic"/>
              </a:rPr>
              <a:t>研究の背景（1） 現場での気づき</a:t>
            </a:r>
          </a:p>
        </p:txBody>
      </p:sp>
      <p:sp>
        <p:nvSpPr>
          <p:cNvPr id="5" name="TextBox 4"/>
          <p:cNvSpPr txBox="1"/>
          <p:nvPr/>
        </p:nvSpPr>
        <p:spPr>
          <a:xfrm>
            <a:off x="9692640" y="137160"/>
            <a:ext cx="2194560" cy="320040"/>
          </a:xfrm>
          <a:prstGeom prst="rect">
            <a:avLst/>
          </a:prstGeom>
          <a:noFill/>
        </p:spPr>
        <p:txBody>
          <a:bodyPr wrap="square">
            <a:spAutoFit/>
          </a:bodyPr>
          <a:lstStyle/>
          <a:p>
            <a:pPr algn="r"/>
            <a:r>
              <a:rPr sz="1100" b="0">
                <a:solidFill>
                  <a:srgbClr val="BFD3E6"/>
                </a:solidFill>
                <a:latin typeface="Yu Gothic"/>
              </a:rPr>
              <a:t>1. はじめに</a:t>
            </a:r>
          </a:p>
        </p:txBody>
      </p:sp>
      <p:sp>
        <p:nvSpPr>
          <p:cNvPr id="6" name="TextBox 5"/>
          <p:cNvSpPr txBox="1"/>
          <p:nvPr/>
        </p:nvSpPr>
        <p:spPr>
          <a:xfrm>
            <a:off x="9692640" y="502920"/>
            <a:ext cx="2194560" cy="365760"/>
          </a:xfrm>
          <a:prstGeom prst="rect">
            <a:avLst/>
          </a:prstGeom>
          <a:noFill/>
        </p:spPr>
        <p:txBody>
          <a:bodyPr wrap="square">
            <a:spAutoFit/>
          </a:bodyPr>
          <a:lstStyle/>
          <a:p>
            <a:pPr algn="r"/>
            <a:r>
              <a:rPr sz="1300" b="0">
                <a:solidFill>
                  <a:srgbClr val="BFD3E6"/>
                </a:solidFill>
                <a:latin typeface="Yu Gothic"/>
              </a:rPr>
              <a:t>NO.2</a:t>
            </a:r>
          </a:p>
        </p:txBody>
      </p:sp>
      <p:sp>
        <p:nvSpPr>
          <p:cNvPr id="7" name="TextBox 6"/>
          <p:cNvSpPr txBox="1"/>
          <p:nvPr/>
        </p:nvSpPr>
        <p:spPr>
          <a:xfrm>
            <a:off x="502920" y="6510528"/>
            <a:ext cx="7315200" cy="274320"/>
          </a:xfrm>
          <a:prstGeom prst="rect">
            <a:avLst/>
          </a:prstGeom>
          <a:noFill/>
        </p:spPr>
        <p:txBody>
          <a:bodyPr wrap="square">
            <a:spAutoFit/>
          </a:bodyPr>
          <a:lstStyle/>
          <a:p>
            <a:pPr algn="l"/>
            <a:r>
              <a:rPr sz="900" b="0">
                <a:solidFill>
                  <a:srgbClr val="6B7680"/>
                </a:solidFill>
                <a:latin typeface="Yu Gothic"/>
              </a:rPr>
              <a:t>画像特徴量を用いた店頭広告に対する通行人関心度推定手法の提案</a:t>
            </a:r>
          </a:p>
        </p:txBody>
      </p:sp>
      <p:sp>
        <p:nvSpPr>
          <p:cNvPr id="8" name="TextBox 7"/>
          <p:cNvSpPr txBox="1"/>
          <p:nvPr/>
        </p:nvSpPr>
        <p:spPr>
          <a:xfrm>
            <a:off x="640080" y="1371600"/>
            <a:ext cx="10881360" cy="2743200"/>
          </a:xfrm>
          <a:prstGeom prst="rect">
            <a:avLst/>
          </a:prstGeom>
          <a:noFill/>
        </p:spPr>
        <p:txBody>
          <a:bodyPr wrap="square">
            <a:spAutoFit/>
          </a:bodyPr>
          <a:lstStyle/>
          <a:p>
            <a:pPr>
              <a:spcAft>
                <a:spcPts val="1000"/>
              </a:spcAft>
            </a:pPr>
            <a:r>
              <a:rPr sz="1800">
                <a:solidFill>
                  <a:srgbClr val="2C333A"/>
                </a:solidFill>
                <a:latin typeface="Yu Gothic"/>
              </a:rPr>
              <a:t>・インディクルーズ株式会社（道頓堀観光船）にて約半年間アルバイトを経験</a:t>
            </a:r>
          </a:p>
          <a:p>
            <a:pPr>
              <a:spcAft>
                <a:spcPts val="1000"/>
              </a:spcAft>
            </a:pPr>
            <a:r>
              <a:rPr sz="1800">
                <a:solidFill>
                  <a:srgbClr val="2C333A"/>
                </a:solidFill>
                <a:latin typeface="Yu Gothic"/>
              </a:rPr>
              <a:t>・グリコ看板前でポスターを掲げて通行人に声がけし、船着場へ案内する集客業務</a:t>
            </a:r>
          </a:p>
          <a:p>
            <a:pPr>
              <a:spcAft>
                <a:spcPts val="1000"/>
              </a:spcAft>
            </a:pPr>
            <a:r>
              <a:rPr sz="1800">
                <a:solidFill>
                  <a:srgbClr val="2C333A"/>
                </a:solidFill>
                <a:latin typeface="Yu Gothic"/>
              </a:rPr>
              <a:t>・ポスターを見ない人／チラ見する人／立ち止まって読む人で、声がけへの反応率が大きく異なると体感</a:t>
            </a:r>
          </a:p>
          <a:p>
            <a:pPr>
              <a:spcAft>
                <a:spcPts val="1000"/>
              </a:spcAft>
            </a:pPr>
            <a:r>
              <a:rPr sz="1800">
                <a:solidFill>
                  <a:srgbClr val="2C333A"/>
                </a:solidFill>
                <a:latin typeface="Yu Gothic"/>
              </a:rPr>
              <a:t>・通行人が多い時間帯 ≠ 集客できる時間帯 であることも経験</a:t>
            </a:r>
          </a:p>
        </p:txBody>
      </p:sp>
      <p:sp>
        <p:nvSpPr>
          <p:cNvPr id="9" name="Rounded Rectangle 8"/>
          <p:cNvSpPr/>
          <p:nvPr/>
        </p:nvSpPr>
        <p:spPr>
          <a:xfrm>
            <a:off x="1371600" y="4663440"/>
            <a:ext cx="9418320" cy="1188720"/>
          </a:xfrm>
          <a:prstGeom prst="roundRect">
            <a:avLst/>
          </a:prstGeom>
          <a:solidFill>
            <a:srgbClr val="2E86C1"/>
          </a:solidFill>
          <a:ln>
            <a:solidFill>
              <a:srgbClr val="2E86C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latin typeface="Yu Gothic"/>
              </a:rPr>
              <a:t>「その場にいる通行人が広告にどれだけ関心を持っているか」を</a:t>
            </a:r>
            <a:br/>
            <a:r>
              <a:rPr sz="1700" b="1">
                <a:solidFill>
                  <a:srgbClr val="FFFFFF"/>
                </a:solidFill>
                <a:latin typeface="Yu Gothic"/>
              </a:rPr>
              <a:t>リアルタイムに数値化できれば、価格設定・販売戦略を最適化できるのでは？</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601200" cy="731520"/>
          </a:xfrm>
          <a:prstGeom prst="rect">
            <a:avLst/>
          </a:prstGeom>
          <a:noFill/>
        </p:spPr>
        <p:txBody>
          <a:bodyPr wrap="square" anchor="ctr">
            <a:spAutoFit/>
          </a:bodyPr>
          <a:lstStyle/>
          <a:p>
            <a:pPr algn="l"/>
            <a:r>
              <a:rPr sz="2600" b="1">
                <a:solidFill>
                  <a:srgbClr val="FFFFFF"/>
                </a:solidFill>
                <a:latin typeface="Yu Gothic"/>
              </a:rPr>
              <a:t>研究の背景（2） 既存技術の課題</a:t>
            </a:r>
          </a:p>
        </p:txBody>
      </p:sp>
      <p:sp>
        <p:nvSpPr>
          <p:cNvPr id="5" name="TextBox 4"/>
          <p:cNvSpPr txBox="1"/>
          <p:nvPr/>
        </p:nvSpPr>
        <p:spPr>
          <a:xfrm>
            <a:off x="9692640" y="137160"/>
            <a:ext cx="2194560" cy="320040"/>
          </a:xfrm>
          <a:prstGeom prst="rect">
            <a:avLst/>
          </a:prstGeom>
          <a:noFill/>
        </p:spPr>
        <p:txBody>
          <a:bodyPr wrap="square">
            <a:spAutoFit/>
          </a:bodyPr>
          <a:lstStyle/>
          <a:p>
            <a:pPr algn="r"/>
            <a:r>
              <a:rPr sz="1100" b="0">
                <a:solidFill>
                  <a:srgbClr val="BFD3E6"/>
                </a:solidFill>
                <a:latin typeface="Yu Gothic"/>
              </a:rPr>
              <a:t>1. はじめに</a:t>
            </a:r>
          </a:p>
        </p:txBody>
      </p:sp>
      <p:sp>
        <p:nvSpPr>
          <p:cNvPr id="6" name="TextBox 5"/>
          <p:cNvSpPr txBox="1"/>
          <p:nvPr/>
        </p:nvSpPr>
        <p:spPr>
          <a:xfrm>
            <a:off x="9692640" y="502920"/>
            <a:ext cx="2194560" cy="365760"/>
          </a:xfrm>
          <a:prstGeom prst="rect">
            <a:avLst/>
          </a:prstGeom>
          <a:noFill/>
        </p:spPr>
        <p:txBody>
          <a:bodyPr wrap="square">
            <a:spAutoFit/>
          </a:bodyPr>
          <a:lstStyle/>
          <a:p>
            <a:pPr algn="r"/>
            <a:r>
              <a:rPr sz="1300" b="0">
                <a:solidFill>
                  <a:srgbClr val="BFD3E6"/>
                </a:solidFill>
                <a:latin typeface="Yu Gothic"/>
              </a:rPr>
              <a:t>NO.3</a:t>
            </a:r>
          </a:p>
        </p:txBody>
      </p:sp>
      <p:sp>
        <p:nvSpPr>
          <p:cNvPr id="7" name="TextBox 6"/>
          <p:cNvSpPr txBox="1"/>
          <p:nvPr/>
        </p:nvSpPr>
        <p:spPr>
          <a:xfrm>
            <a:off x="502920" y="6510528"/>
            <a:ext cx="7315200" cy="274320"/>
          </a:xfrm>
          <a:prstGeom prst="rect">
            <a:avLst/>
          </a:prstGeom>
          <a:noFill/>
        </p:spPr>
        <p:txBody>
          <a:bodyPr wrap="square">
            <a:spAutoFit/>
          </a:bodyPr>
          <a:lstStyle/>
          <a:p>
            <a:pPr algn="l"/>
            <a:r>
              <a:rPr sz="900" b="0">
                <a:solidFill>
                  <a:srgbClr val="6B7680"/>
                </a:solidFill>
                <a:latin typeface="Yu Gothic"/>
              </a:rPr>
              <a:t>画像特徴量を用いた店頭広告に対する通行人関心度推定手法の提案</a:t>
            </a:r>
          </a:p>
        </p:txBody>
      </p:sp>
      <p:sp>
        <p:nvSpPr>
          <p:cNvPr id="8" name="TextBox 7"/>
          <p:cNvSpPr txBox="1"/>
          <p:nvPr/>
        </p:nvSpPr>
        <p:spPr>
          <a:xfrm>
            <a:off x="640080" y="1463040"/>
            <a:ext cx="10881360" cy="2011680"/>
          </a:xfrm>
          <a:prstGeom prst="rect">
            <a:avLst/>
          </a:prstGeom>
          <a:noFill/>
        </p:spPr>
        <p:txBody>
          <a:bodyPr wrap="square">
            <a:spAutoFit/>
          </a:bodyPr>
          <a:lstStyle/>
          <a:p>
            <a:pPr>
              <a:spcAft>
                <a:spcPts val="1000"/>
              </a:spcAft>
            </a:pPr>
            <a:r>
              <a:rPr sz="1900">
                <a:solidFill>
                  <a:srgbClr val="2C333A"/>
                </a:solidFill>
                <a:latin typeface="Yu Gothic"/>
              </a:rPr>
              <a:t>・既存の人流分析技術：通行人数・密度・移動軌跡の把握が中心</a:t>
            </a:r>
          </a:p>
          <a:p>
            <a:pPr>
              <a:spcAft>
                <a:spcPts val="1000"/>
              </a:spcAft>
            </a:pPr>
            <a:r>
              <a:rPr sz="1900">
                <a:solidFill>
                  <a:srgbClr val="2C333A"/>
                </a:solidFill>
                <a:latin typeface="Yu Gothic"/>
              </a:rPr>
              <a:t>・「関心度」そのものを定量的に評価する手法は確立されていない</a:t>
            </a:r>
          </a:p>
        </p:txBody>
      </p:sp>
      <p:sp>
        <p:nvSpPr>
          <p:cNvPr id="9" name="Rounded Rectangle 8"/>
          <p:cNvSpPr/>
          <p:nvPr/>
        </p:nvSpPr>
        <p:spPr>
          <a:xfrm>
            <a:off x="1097280" y="3291840"/>
            <a:ext cx="9966960" cy="1280160"/>
          </a:xfrm>
          <a:prstGeom prst="roundRect">
            <a:avLst/>
          </a:prstGeom>
          <a:solidFill>
            <a:srgbClr val="1F3A5F"/>
          </a:solidFill>
          <a:ln>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latin typeface="Yu Gothic"/>
              </a:rPr>
              <a:t>本研究：カメラ映像から取得可能な行動特徴量を用いて</a:t>
            </a:r>
            <a:br/>
            <a:r>
              <a:rPr sz="1900" b="1">
                <a:solidFill>
                  <a:srgbClr val="FFFFFF"/>
                </a:solidFill>
                <a:latin typeface="Yu Gothic"/>
              </a:rPr>
              <a:t>通行人の「関心度」を数値化する手法を提案する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601200" cy="731520"/>
          </a:xfrm>
          <a:prstGeom prst="rect">
            <a:avLst/>
          </a:prstGeom>
          <a:noFill/>
        </p:spPr>
        <p:txBody>
          <a:bodyPr wrap="square" anchor="ctr">
            <a:spAutoFit/>
          </a:bodyPr>
          <a:lstStyle/>
          <a:p>
            <a:pPr algn="l"/>
            <a:r>
              <a:rPr sz="2600" b="1">
                <a:solidFill>
                  <a:srgbClr val="FFFFFF"/>
                </a:solidFill>
                <a:latin typeface="Yu Gothic"/>
              </a:rPr>
              <a:t>研究目的</a:t>
            </a:r>
          </a:p>
        </p:txBody>
      </p:sp>
      <p:sp>
        <p:nvSpPr>
          <p:cNvPr id="5" name="TextBox 4"/>
          <p:cNvSpPr txBox="1"/>
          <p:nvPr/>
        </p:nvSpPr>
        <p:spPr>
          <a:xfrm>
            <a:off x="9692640" y="137160"/>
            <a:ext cx="2194560" cy="320040"/>
          </a:xfrm>
          <a:prstGeom prst="rect">
            <a:avLst/>
          </a:prstGeom>
          <a:noFill/>
        </p:spPr>
        <p:txBody>
          <a:bodyPr wrap="square">
            <a:spAutoFit/>
          </a:bodyPr>
          <a:lstStyle/>
          <a:p>
            <a:pPr algn="r"/>
            <a:r>
              <a:rPr sz="1100" b="0">
                <a:solidFill>
                  <a:srgbClr val="BFD3E6"/>
                </a:solidFill>
                <a:latin typeface="Yu Gothic"/>
              </a:rPr>
              <a:t>1. はじめに</a:t>
            </a:r>
          </a:p>
        </p:txBody>
      </p:sp>
      <p:sp>
        <p:nvSpPr>
          <p:cNvPr id="6" name="TextBox 5"/>
          <p:cNvSpPr txBox="1"/>
          <p:nvPr/>
        </p:nvSpPr>
        <p:spPr>
          <a:xfrm>
            <a:off x="9692640" y="502920"/>
            <a:ext cx="2194560" cy="365760"/>
          </a:xfrm>
          <a:prstGeom prst="rect">
            <a:avLst/>
          </a:prstGeom>
          <a:noFill/>
        </p:spPr>
        <p:txBody>
          <a:bodyPr wrap="square">
            <a:spAutoFit/>
          </a:bodyPr>
          <a:lstStyle/>
          <a:p>
            <a:pPr algn="r"/>
            <a:r>
              <a:rPr sz="1300" b="0">
                <a:solidFill>
                  <a:srgbClr val="BFD3E6"/>
                </a:solidFill>
                <a:latin typeface="Yu Gothic"/>
              </a:rPr>
              <a:t>NO.4</a:t>
            </a:r>
          </a:p>
        </p:txBody>
      </p:sp>
      <p:sp>
        <p:nvSpPr>
          <p:cNvPr id="7" name="TextBox 6"/>
          <p:cNvSpPr txBox="1"/>
          <p:nvPr/>
        </p:nvSpPr>
        <p:spPr>
          <a:xfrm>
            <a:off x="502920" y="6510528"/>
            <a:ext cx="7315200" cy="274320"/>
          </a:xfrm>
          <a:prstGeom prst="rect">
            <a:avLst/>
          </a:prstGeom>
          <a:noFill/>
        </p:spPr>
        <p:txBody>
          <a:bodyPr wrap="square">
            <a:spAutoFit/>
          </a:bodyPr>
          <a:lstStyle/>
          <a:p>
            <a:pPr algn="l"/>
            <a:r>
              <a:rPr sz="900" b="0">
                <a:solidFill>
                  <a:srgbClr val="6B7680"/>
                </a:solidFill>
                <a:latin typeface="Yu Gothic"/>
              </a:rPr>
              <a:t>画像特徴量を用いた店頭広告に対する通行人関心度推定手法の提案</a:t>
            </a:r>
          </a:p>
        </p:txBody>
      </p:sp>
      <p:sp>
        <p:nvSpPr>
          <p:cNvPr id="8" name="TextBox 7"/>
          <p:cNvSpPr txBox="1"/>
          <p:nvPr/>
        </p:nvSpPr>
        <p:spPr>
          <a:xfrm>
            <a:off x="640080" y="1371600"/>
            <a:ext cx="10881360" cy="731520"/>
          </a:xfrm>
          <a:prstGeom prst="rect">
            <a:avLst/>
          </a:prstGeom>
          <a:noFill/>
        </p:spPr>
        <p:txBody>
          <a:bodyPr wrap="square">
            <a:spAutoFit/>
          </a:bodyPr>
          <a:lstStyle/>
          <a:p>
            <a:pPr algn="l"/>
            <a:r>
              <a:rPr sz="1900" b="1">
                <a:solidFill>
                  <a:srgbClr val="2C333A"/>
                </a:solidFill>
                <a:latin typeface="Yu Gothic"/>
              </a:rPr>
              <a:t>店頭広告に対する通行人の関心度を、映像データから自動的に推定する手法を提案する</a:t>
            </a:r>
          </a:p>
        </p:txBody>
      </p:sp>
      <p:graphicFrame>
        <p:nvGraphicFramePr>
          <p:cNvPr id="9" name="Table 8"/>
          <p:cNvGraphicFramePr>
            <a:graphicFrameLocks noGrp="1"/>
          </p:cNvGraphicFramePr>
          <p:nvPr/>
        </p:nvGraphicFramePr>
        <p:xfrm>
          <a:off x="1828800" y="2377440"/>
          <a:ext cx="8503920" cy="2926080"/>
        </p:xfrm>
        <a:graphic>
          <a:graphicData uri="http://schemas.openxmlformats.org/drawingml/2006/table">
            <a:tbl>
              <a:tblPr firstRow="1" bandRow="1">
                <a:tableStyleId>{5C22544A-7EE6-4342-B048-85BDC9FD1C3A}</a:tableStyleId>
              </a:tblPr>
              <a:tblGrid>
                <a:gridCol w="2560320"/>
                <a:gridCol w="1188720"/>
                <a:gridCol w="4754880"/>
              </a:tblGrid>
              <a:tr h="585216">
                <a:tc>
                  <a:txBody>
                    <a:bodyPr/>
                    <a:lstStyle/>
                    <a:p>
                      <a:pPr algn="ctr"/>
                      <a:r>
                        <a:rPr sz="1600" b="1">
                          <a:solidFill>
                            <a:srgbClr val="FFFFFF"/>
                          </a:solidFill>
                          <a:latin typeface="Yu Gothic"/>
                        </a:rPr>
                        <a:t>特徴量</a:t>
                      </a:r>
                    </a:p>
                  </a:txBody>
                  <a:tcPr anchor="ctr">
                    <a:solidFill>
                      <a:srgbClr val="1F3A5F"/>
                    </a:solidFill>
                  </a:tcPr>
                </a:tc>
                <a:tc>
                  <a:txBody>
                    <a:bodyPr/>
                    <a:lstStyle/>
                    <a:p>
                      <a:pPr algn="ctr"/>
                      <a:r>
                        <a:rPr sz="1600" b="1">
                          <a:solidFill>
                            <a:srgbClr val="FFFFFF"/>
                          </a:solidFill>
                          <a:latin typeface="Yu Gothic"/>
                        </a:rPr>
                        <a:t>記号</a:t>
                      </a:r>
                    </a:p>
                  </a:txBody>
                  <a:tcPr anchor="ctr">
                    <a:solidFill>
                      <a:srgbClr val="1F3A5F"/>
                    </a:solidFill>
                  </a:tcPr>
                </a:tc>
                <a:tc>
                  <a:txBody>
                    <a:bodyPr/>
                    <a:lstStyle/>
                    <a:p>
                      <a:pPr algn="ctr"/>
                      <a:r>
                        <a:rPr sz="1600" b="1">
                          <a:solidFill>
                            <a:srgbClr val="FFFFFF"/>
                          </a:solidFill>
                          <a:latin typeface="Yu Gothic"/>
                        </a:rPr>
                        <a:t>内容</a:t>
                      </a:r>
                    </a:p>
                  </a:txBody>
                  <a:tcPr anchor="ctr">
                    <a:solidFill>
                      <a:srgbClr val="1F3A5F"/>
                    </a:solidFill>
                  </a:tcPr>
                </a:tc>
              </a:tr>
              <a:tr h="585216">
                <a:tc>
                  <a:txBody>
                    <a:bodyPr/>
                    <a:lstStyle/>
                    <a:p>
                      <a:pPr algn="ctr"/>
                      <a:r>
                        <a:rPr sz="1600">
                          <a:solidFill>
                            <a:srgbClr val="2C333A"/>
                          </a:solidFill>
                          <a:latin typeface="Yu Gothic"/>
                        </a:rPr>
                        <a:t>顔向き</a:t>
                      </a:r>
                    </a:p>
                  </a:txBody>
                  <a:tcPr anchor="ctr">
                    <a:solidFill>
                      <a:srgbClr val="FFFFFF"/>
                    </a:solidFill>
                  </a:tcPr>
                </a:tc>
                <a:tc>
                  <a:txBody>
                    <a:bodyPr/>
                    <a:lstStyle/>
                    <a:p>
                      <a:pPr algn="ctr"/>
                      <a:r>
                        <a:rPr sz="1600">
                          <a:solidFill>
                            <a:srgbClr val="2C333A"/>
                          </a:solidFill>
                          <a:latin typeface="Yu Gothic"/>
                        </a:rPr>
                        <a:t>F</a:t>
                      </a:r>
                    </a:p>
                  </a:txBody>
                  <a:tcPr anchor="ctr">
                    <a:solidFill>
                      <a:srgbClr val="FFFFFF"/>
                    </a:solidFill>
                  </a:tcPr>
                </a:tc>
                <a:tc>
                  <a:txBody>
                    <a:bodyPr/>
                    <a:lstStyle/>
                    <a:p>
                      <a:pPr algn="ctr"/>
                      <a:r>
                        <a:rPr sz="1600">
                          <a:solidFill>
                            <a:srgbClr val="2C333A"/>
                          </a:solidFill>
                          <a:latin typeface="Yu Gothic"/>
                        </a:rPr>
                        <a:t>広告方向を向いているか</a:t>
                      </a:r>
                    </a:p>
                  </a:txBody>
                  <a:tcPr anchor="ctr">
                    <a:solidFill>
                      <a:srgbClr val="FFFFFF"/>
                    </a:solidFill>
                  </a:tcPr>
                </a:tc>
              </a:tr>
              <a:tr h="585216">
                <a:tc>
                  <a:txBody>
                    <a:bodyPr/>
                    <a:lstStyle/>
                    <a:p>
                      <a:pPr algn="ctr"/>
                      <a:r>
                        <a:rPr sz="1600">
                          <a:solidFill>
                            <a:srgbClr val="2C333A"/>
                          </a:solidFill>
                          <a:latin typeface="Yu Gothic"/>
                        </a:rPr>
                        <a:t>体向き</a:t>
                      </a:r>
                    </a:p>
                  </a:txBody>
                  <a:tcPr anchor="ctr">
                    <a:solidFill>
                      <a:srgbClr val="F4F7FA"/>
                    </a:solidFill>
                  </a:tcPr>
                </a:tc>
                <a:tc>
                  <a:txBody>
                    <a:bodyPr/>
                    <a:lstStyle/>
                    <a:p>
                      <a:pPr algn="ctr"/>
                      <a:r>
                        <a:rPr sz="1600">
                          <a:solidFill>
                            <a:srgbClr val="2C333A"/>
                          </a:solidFill>
                          <a:latin typeface="Yu Gothic"/>
                        </a:rPr>
                        <a:t>B</a:t>
                      </a:r>
                    </a:p>
                  </a:txBody>
                  <a:tcPr anchor="ctr">
                    <a:solidFill>
                      <a:srgbClr val="F4F7FA"/>
                    </a:solidFill>
                  </a:tcPr>
                </a:tc>
                <a:tc>
                  <a:txBody>
                    <a:bodyPr/>
                    <a:lstStyle/>
                    <a:p>
                      <a:pPr algn="ctr"/>
                      <a:r>
                        <a:rPr sz="1600">
                          <a:solidFill>
                            <a:srgbClr val="2C333A"/>
                          </a:solidFill>
                          <a:latin typeface="Yu Gothic"/>
                        </a:rPr>
                        <a:t>広告方向に身体を向けているか</a:t>
                      </a:r>
                    </a:p>
                  </a:txBody>
                  <a:tcPr anchor="ctr">
                    <a:solidFill>
                      <a:srgbClr val="F4F7FA"/>
                    </a:solidFill>
                  </a:tcPr>
                </a:tc>
              </a:tr>
              <a:tr h="585216">
                <a:tc>
                  <a:txBody>
                    <a:bodyPr/>
                    <a:lstStyle/>
                    <a:p>
                      <a:pPr algn="ctr"/>
                      <a:r>
                        <a:rPr sz="1600">
                          <a:solidFill>
                            <a:srgbClr val="2C333A"/>
                          </a:solidFill>
                          <a:latin typeface="Yu Gothic"/>
                        </a:rPr>
                        <a:t>滞在時間</a:t>
                      </a:r>
                    </a:p>
                  </a:txBody>
                  <a:tcPr anchor="ctr">
                    <a:solidFill>
                      <a:srgbClr val="FFFFFF"/>
                    </a:solidFill>
                  </a:tcPr>
                </a:tc>
                <a:tc>
                  <a:txBody>
                    <a:bodyPr/>
                    <a:lstStyle/>
                    <a:p>
                      <a:pPr algn="ctr"/>
                      <a:r>
                        <a:rPr sz="1600">
                          <a:solidFill>
                            <a:srgbClr val="2C333A"/>
                          </a:solidFill>
                          <a:latin typeface="Yu Gothic"/>
                        </a:rPr>
                        <a:t>T</a:t>
                      </a:r>
                    </a:p>
                  </a:txBody>
                  <a:tcPr anchor="ctr">
                    <a:solidFill>
                      <a:srgbClr val="FFFFFF"/>
                    </a:solidFill>
                  </a:tcPr>
                </a:tc>
                <a:tc>
                  <a:txBody>
                    <a:bodyPr/>
                    <a:lstStyle/>
                    <a:p>
                      <a:pPr algn="ctr"/>
                      <a:r>
                        <a:rPr sz="1600">
                          <a:solidFill>
                            <a:srgbClr val="2C333A"/>
                          </a:solidFill>
                          <a:latin typeface="Yu Gothic"/>
                        </a:rPr>
                        <a:t>広告周辺にどれだけ留まったか</a:t>
                      </a:r>
                    </a:p>
                  </a:txBody>
                  <a:tcPr anchor="ctr">
                    <a:solidFill>
                      <a:srgbClr val="FFFFFF"/>
                    </a:solidFill>
                  </a:tcPr>
                </a:tc>
              </a:tr>
              <a:tr h="585216">
                <a:tc>
                  <a:txBody>
                    <a:bodyPr/>
                    <a:lstStyle/>
                    <a:p>
                      <a:pPr algn="ctr"/>
                      <a:r>
                        <a:rPr sz="1600">
                          <a:solidFill>
                            <a:srgbClr val="2C333A"/>
                          </a:solidFill>
                          <a:latin typeface="Yu Gothic"/>
                        </a:rPr>
                        <a:t>歩行速度</a:t>
                      </a:r>
                    </a:p>
                  </a:txBody>
                  <a:tcPr anchor="ctr">
                    <a:solidFill>
                      <a:srgbClr val="F4F7FA"/>
                    </a:solidFill>
                  </a:tcPr>
                </a:tc>
                <a:tc>
                  <a:txBody>
                    <a:bodyPr/>
                    <a:lstStyle/>
                    <a:p>
                      <a:pPr algn="ctr"/>
                      <a:r>
                        <a:rPr sz="1600">
                          <a:solidFill>
                            <a:srgbClr val="2C333A"/>
                          </a:solidFill>
                          <a:latin typeface="Yu Gothic"/>
                        </a:rPr>
                        <a:t>V</a:t>
                      </a:r>
                    </a:p>
                  </a:txBody>
                  <a:tcPr anchor="ctr">
                    <a:solidFill>
                      <a:srgbClr val="F4F7FA"/>
                    </a:solidFill>
                  </a:tcPr>
                </a:tc>
                <a:tc>
                  <a:txBody>
                    <a:bodyPr/>
                    <a:lstStyle/>
                    <a:p>
                      <a:pPr algn="ctr"/>
                      <a:r>
                        <a:rPr sz="1600">
                          <a:solidFill>
                            <a:srgbClr val="2C333A"/>
                          </a:solidFill>
                          <a:latin typeface="Yu Gothic"/>
                        </a:rPr>
                        <a:t>ゆっくり見ているか</a:t>
                      </a:r>
                    </a:p>
                  </a:txBody>
                  <a:tcPr anchor="ctr">
                    <a:solidFill>
                      <a:srgbClr val="F4F7FA"/>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601200" cy="731520"/>
          </a:xfrm>
          <a:prstGeom prst="rect">
            <a:avLst/>
          </a:prstGeom>
          <a:noFill/>
        </p:spPr>
        <p:txBody>
          <a:bodyPr wrap="square" anchor="ctr">
            <a:spAutoFit/>
          </a:bodyPr>
          <a:lstStyle/>
          <a:p>
            <a:pPr algn="l"/>
            <a:r>
              <a:rPr sz="2600" b="1">
                <a:solidFill>
                  <a:srgbClr val="FFFFFF"/>
                </a:solidFill>
                <a:latin typeface="Yu Gothic"/>
              </a:rPr>
              <a:t>提案手法：Interest Score 1.0</a:t>
            </a:r>
          </a:p>
        </p:txBody>
      </p:sp>
      <p:sp>
        <p:nvSpPr>
          <p:cNvPr id="5" name="TextBox 4"/>
          <p:cNvSpPr txBox="1"/>
          <p:nvPr/>
        </p:nvSpPr>
        <p:spPr>
          <a:xfrm>
            <a:off x="9692640" y="137160"/>
            <a:ext cx="2194560" cy="320040"/>
          </a:xfrm>
          <a:prstGeom prst="rect">
            <a:avLst/>
          </a:prstGeom>
          <a:noFill/>
        </p:spPr>
        <p:txBody>
          <a:bodyPr wrap="square">
            <a:spAutoFit/>
          </a:bodyPr>
          <a:lstStyle/>
          <a:p>
            <a:pPr algn="r"/>
            <a:r>
              <a:rPr sz="1100" b="0">
                <a:solidFill>
                  <a:srgbClr val="BFD3E6"/>
                </a:solidFill>
                <a:latin typeface="Yu Gothic"/>
              </a:rPr>
              <a:t>2. 提案手法</a:t>
            </a:r>
          </a:p>
        </p:txBody>
      </p:sp>
      <p:sp>
        <p:nvSpPr>
          <p:cNvPr id="6" name="TextBox 5"/>
          <p:cNvSpPr txBox="1"/>
          <p:nvPr/>
        </p:nvSpPr>
        <p:spPr>
          <a:xfrm>
            <a:off x="9692640" y="502920"/>
            <a:ext cx="2194560" cy="365760"/>
          </a:xfrm>
          <a:prstGeom prst="rect">
            <a:avLst/>
          </a:prstGeom>
          <a:noFill/>
        </p:spPr>
        <p:txBody>
          <a:bodyPr wrap="square">
            <a:spAutoFit/>
          </a:bodyPr>
          <a:lstStyle/>
          <a:p>
            <a:pPr algn="r"/>
            <a:r>
              <a:rPr sz="1300" b="0">
                <a:solidFill>
                  <a:srgbClr val="BFD3E6"/>
                </a:solidFill>
                <a:latin typeface="Yu Gothic"/>
              </a:rPr>
              <a:t>NO.5</a:t>
            </a:r>
          </a:p>
        </p:txBody>
      </p:sp>
      <p:sp>
        <p:nvSpPr>
          <p:cNvPr id="7" name="TextBox 6"/>
          <p:cNvSpPr txBox="1"/>
          <p:nvPr/>
        </p:nvSpPr>
        <p:spPr>
          <a:xfrm>
            <a:off x="502920" y="6510528"/>
            <a:ext cx="7315200" cy="274320"/>
          </a:xfrm>
          <a:prstGeom prst="rect">
            <a:avLst/>
          </a:prstGeom>
          <a:noFill/>
        </p:spPr>
        <p:txBody>
          <a:bodyPr wrap="square">
            <a:spAutoFit/>
          </a:bodyPr>
          <a:lstStyle/>
          <a:p>
            <a:pPr algn="l"/>
            <a:r>
              <a:rPr sz="900" b="0">
                <a:solidFill>
                  <a:srgbClr val="6B7680"/>
                </a:solidFill>
                <a:latin typeface="Yu Gothic"/>
              </a:rPr>
              <a:t>画像特徴量を用いた店頭広告に対する通行人関心度推定手法の提案</a:t>
            </a:r>
          </a:p>
        </p:txBody>
      </p:sp>
      <p:sp>
        <p:nvSpPr>
          <p:cNvPr id="8" name="TextBox 7"/>
          <p:cNvSpPr txBox="1"/>
          <p:nvPr/>
        </p:nvSpPr>
        <p:spPr>
          <a:xfrm>
            <a:off x="640080" y="1371600"/>
            <a:ext cx="10881360" cy="1097280"/>
          </a:xfrm>
          <a:prstGeom prst="rect">
            <a:avLst/>
          </a:prstGeom>
          <a:noFill/>
        </p:spPr>
        <p:txBody>
          <a:bodyPr wrap="square">
            <a:spAutoFit/>
          </a:bodyPr>
          <a:lstStyle/>
          <a:p>
            <a:pPr>
              <a:spcAft>
                <a:spcPts val="1000"/>
              </a:spcAft>
            </a:pPr>
            <a:r>
              <a:rPr sz="1900">
                <a:solidFill>
                  <a:srgbClr val="2C333A"/>
                </a:solidFill>
                <a:latin typeface="Yu Gothic"/>
              </a:rPr>
              <a:t>・4つの行動特徴量（F・B・T・V）を線形結合したルールベースモデル</a:t>
            </a:r>
          </a:p>
        </p:txBody>
      </p:sp>
      <p:sp>
        <p:nvSpPr>
          <p:cNvPr id="9" name="Rounded Rectangle 8"/>
          <p:cNvSpPr/>
          <p:nvPr/>
        </p:nvSpPr>
        <p:spPr>
          <a:xfrm>
            <a:off x="2926080" y="2468880"/>
            <a:ext cx="6309360" cy="1188720"/>
          </a:xfrm>
          <a:prstGeom prst="roundRect">
            <a:avLst/>
          </a:prstGeom>
          <a:solidFill>
            <a:srgbClr val="1F3A5F"/>
          </a:solidFill>
          <a:ln>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FFFFFF"/>
                </a:solidFill>
                <a:latin typeface="Yu Gothic"/>
              </a:rPr>
              <a:t>I = aF + bB + cT + dV</a:t>
            </a:r>
          </a:p>
        </p:txBody>
      </p:sp>
      <p:sp>
        <p:nvSpPr>
          <p:cNvPr id="10" name="TextBox 9"/>
          <p:cNvSpPr txBox="1"/>
          <p:nvPr/>
        </p:nvSpPr>
        <p:spPr>
          <a:xfrm>
            <a:off x="640080" y="4023360"/>
            <a:ext cx="10881360" cy="2011680"/>
          </a:xfrm>
          <a:prstGeom prst="rect">
            <a:avLst/>
          </a:prstGeom>
          <a:noFill/>
        </p:spPr>
        <p:txBody>
          <a:bodyPr wrap="square">
            <a:spAutoFit/>
          </a:bodyPr>
          <a:lstStyle/>
          <a:p>
            <a:pPr>
              <a:spcAft>
                <a:spcPts val="1000"/>
              </a:spcAft>
            </a:pPr>
            <a:r>
              <a:rPr sz="1800">
                <a:solidFill>
                  <a:srgbClr val="2C333A"/>
                </a:solidFill>
                <a:latin typeface="Yu Gothic"/>
              </a:rPr>
              <a:t>・重み a, b, c, d は実験結果を見ながら手動調整</a:t>
            </a:r>
          </a:p>
          <a:p>
            <a:pPr>
              <a:spcAft>
                <a:spcPts val="1000"/>
              </a:spcAft>
            </a:pPr>
            <a:r>
              <a:rPr sz="1800">
                <a:solidFill>
                  <a:srgbClr val="2C333A"/>
                </a:solidFill>
                <a:latin typeface="Yu Gothic"/>
              </a:rPr>
              <a:t>・人間が付与した関心度評価（0〜5点）との相関係数を算出し、手法の有効性を検証</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601200" cy="731520"/>
          </a:xfrm>
          <a:prstGeom prst="rect">
            <a:avLst/>
          </a:prstGeom>
          <a:noFill/>
        </p:spPr>
        <p:txBody>
          <a:bodyPr wrap="square" anchor="ctr">
            <a:spAutoFit/>
          </a:bodyPr>
          <a:lstStyle/>
          <a:p>
            <a:pPr algn="l"/>
            <a:r>
              <a:rPr sz="2600" b="1">
                <a:solidFill>
                  <a:srgbClr val="FFFFFF"/>
                </a:solidFill>
                <a:latin typeface="Yu Gothic"/>
              </a:rPr>
              <a:t>研究計画（1） 研究全体のパイプライン</a:t>
            </a:r>
          </a:p>
        </p:txBody>
      </p:sp>
      <p:sp>
        <p:nvSpPr>
          <p:cNvPr id="5" name="TextBox 4"/>
          <p:cNvSpPr txBox="1"/>
          <p:nvPr/>
        </p:nvSpPr>
        <p:spPr>
          <a:xfrm>
            <a:off x="9692640" y="137160"/>
            <a:ext cx="2194560" cy="320040"/>
          </a:xfrm>
          <a:prstGeom prst="rect">
            <a:avLst/>
          </a:prstGeom>
          <a:noFill/>
        </p:spPr>
        <p:txBody>
          <a:bodyPr wrap="square">
            <a:spAutoFit/>
          </a:bodyPr>
          <a:lstStyle/>
          <a:p>
            <a:pPr algn="r"/>
            <a:r>
              <a:rPr sz="1100" b="0">
                <a:solidFill>
                  <a:srgbClr val="BFD3E6"/>
                </a:solidFill>
                <a:latin typeface="Yu Gothic"/>
              </a:rPr>
              <a:t>3. 研究計画</a:t>
            </a:r>
          </a:p>
        </p:txBody>
      </p:sp>
      <p:sp>
        <p:nvSpPr>
          <p:cNvPr id="6" name="TextBox 5"/>
          <p:cNvSpPr txBox="1"/>
          <p:nvPr/>
        </p:nvSpPr>
        <p:spPr>
          <a:xfrm>
            <a:off x="9692640" y="502920"/>
            <a:ext cx="2194560" cy="365760"/>
          </a:xfrm>
          <a:prstGeom prst="rect">
            <a:avLst/>
          </a:prstGeom>
          <a:noFill/>
        </p:spPr>
        <p:txBody>
          <a:bodyPr wrap="square">
            <a:spAutoFit/>
          </a:bodyPr>
          <a:lstStyle/>
          <a:p>
            <a:pPr algn="r"/>
            <a:r>
              <a:rPr sz="1300" b="0">
                <a:solidFill>
                  <a:srgbClr val="BFD3E6"/>
                </a:solidFill>
                <a:latin typeface="Yu Gothic"/>
              </a:rPr>
              <a:t>NO.6</a:t>
            </a:r>
          </a:p>
        </p:txBody>
      </p:sp>
      <p:sp>
        <p:nvSpPr>
          <p:cNvPr id="7" name="TextBox 6"/>
          <p:cNvSpPr txBox="1"/>
          <p:nvPr/>
        </p:nvSpPr>
        <p:spPr>
          <a:xfrm>
            <a:off x="502920" y="6510528"/>
            <a:ext cx="7315200" cy="274320"/>
          </a:xfrm>
          <a:prstGeom prst="rect">
            <a:avLst/>
          </a:prstGeom>
          <a:noFill/>
        </p:spPr>
        <p:txBody>
          <a:bodyPr wrap="square">
            <a:spAutoFit/>
          </a:bodyPr>
          <a:lstStyle/>
          <a:p>
            <a:pPr algn="l"/>
            <a:r>
              <a:rPr sz="900" b="0">
                <a:solidFill>
                  <a:srgbClr val="6B7680"/>
                </a:solidFill>
                <a:latin typeface="Yu Gothic"/>
              </a:rPr>
              <a:t>画像特徴量を用いた店頭広告に対する通行人関心度推定手法の提案</a:t>
            </a:r>
          </a:p>
        </p:txBody>
      </p:sp>
      <p:sp>
        <p:nvSpPr>
          <p:cNvPr id="8" name="Rounded Rectangle 7"/>
          <p:cNvSpPr/>
          <p:nvPr/>
        </p:nvSpPr>
        <p:spPr>
          <a:xfrm>
            <a:off x="897486" y="2834640"/>
            <a:ext cx="1874519" cy="1097280"/>
          </a:xfrm>
          <a:prstGeom prst="roundRect">
            <a:avLst/>
          </a:prstGeom>
          <a:solidFill>
            <a:srgbClr val="2E86C1"/>
          </a:solidFill>
          <a:ln>
            <a:solidFill>
              <a:srgbClr val="2E86C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Yu Gothic"/>
              </a:rPr>
              <a:t>動画</a:t>
            </a:r>
          </a:p>
        </p:txBody>
      </p:sp>
      <p:sp>
        <p:nvSpPr>
          <p:cNvPr id="9" name="Right Arrow 8"/>
          <p:cNvSpPr/>
          <p:nvPr/>
        </p:nvSpPr>
        <p:spPr>
          <a:xfrm>
            <a:off x="2772005" y="3273552"/>
            <a:ext cx="256032" cy="219456"/>
          </a:xfrm>
          <a:prstGeom prst="rightArrow">
            <a:avLst/>
          </a:prstGeom>
          <a:solidFill>
            <a:srgbClr val="6B76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028037" y="2834640"/>
            <a:ext cx="1874519" cy="1097280"/>
          </a:xfrm>
          <a:prstGeom prst="roundRect">
            <a:avLst/>
          </a:prstGeom>
          <a:solidFill>
            <a:srgbClr val="1F3A5F"/>
          </a:solidFill>
          <a:ln>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Yu Gothic"/>
              </a:rPr>
              <a:t>人物検出</a:t>
            </a:r>
            <a:br/>
            <a:r>
              <a:rPr sz="1400" b="1">
                <a:solidFill>
                  <a:srgbClr val="FFFFFF"/>
                </a:solidFill>
                <a:latin typeface="Yu Gothic"/>
              </a:rPr>
              <a:t>(YOLOv11)</a:t>
            </a:r>
          </a:p>
        </p:txBody>
      </p:sp>
      <p:sp>
        <p:nvSpPr>
          <p:cNvPr id="11" name="Right Arrow 10"/>
          <p:cNvSpPr/>
          <p:nvPr/>
        </p:nvSpPr>
        <p:spPr>
          <a:xfrm>
            <a:off x="4902556" y="3273552"/>
            <a:ext cx="256032" cy="219456"/>
          </a:xfrm>
          <a:prstGeom prst="rightArrow">
            <a:avLst/>
          </a:prstGeom>
          <a:solidFill>
            <a:srgbClr val="6B76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58588" y="2834640"/>
            <a:ext cx="1874519" cy="1097280"/>
          </a:xfrm>
          <a:prstGeom prst="roundRect">
            <a:avLst/>
          </a:prstGeom>
          <a:solidFill>
            <a:srgbClr val="2E86C1"/>
          </a:solidFill>
          <a:ln>
            <a:solidFill>
              <a:srgbClr val="2E86C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Yu Gothic"/>
              </a:rPr>
              <a:t>人物追跡</a:t>
            </a:r>
            <a:br/>
            <a:r>
              <a:rPr sz="1400" b="1">
                <a:solidFill>
                  <a:srgbClr val="FFFFFF"/>
                </a:solidFill>
                <a:latin typeface="Yu Gothic"/>
              </a:rPr>
              <a:t>(ByteTrack)</a:t>
            </a:r>
          </a:p>
        </p:txBody>
      </p:sp>
      <p:sp>
        <p:nvSpPr>
          <p:cNvPr id="13" name="Right Arrow 12"/>
          <p:cNvSpPr/>
          <p:nvPr/>
        </p:nvSpPr>
        <p:spPr>
          <a:xfrm>
            <a:off x="7033107" y="3273552"/>
            <a:ext cx="256032" cy="219456"/>
          </a:xfrm>
          <a:prstGeom prst="rightArrow">
            <a:avLst/>
          </a:prstGeom>
          <a:solidFill>
            <a:srgbClr val="6B76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289139" y="2834640"/>
            <a:ext cx="1874519" cy="1097280"/>
          </a:xfrm>
          <a:prstGeom prst="roundRect">
            <a:avLst/>
          </a:prstGeom>
          <a:solidFill>
            <a:srgbClr val="1F3A5F"/>
          </a:solidFill>
          <a:ln>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Yu Gothic"/>
              </a:rPr>
              <a:t>特徴量抽出</a:t>
            </a:r>
          </a:p>
        </p:txBody>
      </p:sp>
      <p:sp>
        <p:nvSpPr>
          <p:cNvPr id="15" name="Right Arrow 14"/>
          <p:cNvSpPr/>
          <p:nvPr/>
        </p:nvSpPr>
        <p:spPr>
          <a:xfrm>
            <a:off x="9163658" y="3273552"/>
            <a:ext cx="256032" cy="219456"/>
          </a:xfrm>
          <a:prstGeom prst="rightArrow">
            <a:avLst/>
          </a:prstGeom>
          <a:solidFill>
            <a:srgbClr val="6B76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419690" y="2834640"/>
            <a:ext cx="1874519" cy="1097280"/>
          </a:xfrm>
          <a:prstGeom prst="roundRect">
            <a:avLst/>
          </a:prstGeom>
          <a:solidFill>
            <a:srgbClr val="2E86C1"/>
          </a:solidFill>
          <a:ln>
            <a:solidFill>
              <a:srgbClr val="2E86C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Yu Gothic"/>
              </a:rPr>
              <a:t>Interest</a:t>
            </a:r>
            <a:br/>
            <a:r>
              <a:rPr sz="1400" b="1">
                <a:solidFill>
                  <a:srgbClr val="FFFFFF"/>
                </a:solidFill>
                <a:latin typeface="Yu Gothic"/>
              </a:rPr>
              <a:t>Score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601200" cy="731520"/>
          </a:xfrm>
          <a:prstGeom prst="rect">
            <a:avLst/>
          </a:prstGeom>
          <a:noFill/>
        </p:spPr>
        <p:txBody>
          <a:bodyPr wrap="square" anchor="ctr">
            <a:spAutoFit/>
          </a:bodyPr>
          <a:lstStyle/>
          <a:p>
            <a:pPr algn="l"/>
            <a:r>
              <a:rPr sz="2600" b="1">
                <a:solidFill>
                  <a:srgbClr val="FFFFFF"/>
                </a:solidFill>
                <a:latin typeface="Yu Gothic"/>
              </a:rPr>
              <a:t>研究計画（2） 今回実装するシステム構成</a:t>
            </a:r>
          </a:p>
        </p:txBody>
      </p:sp>
      <p:sp>
        <p:nvSpPr>
          <p:cNvPr id="5" name="TextBox 4"/>
          <p:cNvSpPr txBox="1"/>
          <p:nvPr/>
        </p:nvSpPr>
        <p:spPr>
          <a:xfrm>
            <a:off x="9692640" y="137160"/>
            <a:ext cx="2194560" cy="320040"/>
          </a:xfrm>
          <a:prstGeom prst="rect">
            <a:avLst/>
          </a:prstGeom>
          <a:noFill/>
        </p:spPr>
        <p:txBody>
          <a:bodyPr wrap="square">
            <a:spAutoFit/>
          </a:bodyPr>
          <a:lstStyle/>
          <a:p>
            <a:pPr algn="r"/>
            <a:r>
              <a:rPr sz="1100" b="0">
                <a:solidFill>
                  <a:srgbClr val="BFD3E6"/>
                </a:solidFill>
                <a:latin typeface="Yu Gothic"/>
              </a:rPr>
              <a:t>3. 研究計画</a:t>
            </a:r>
          </a:p>
        </p:txBody>
      </p:sp>
      <p:sp>
        <p:nvSpPr>
          <p:cNvPr id="6" name="TextBox 5"/>
          <p:cNvSpPr txBox="1"/>
          <p:nvPr/>
        </p:nvSpPr>
        <p:spPr>
          <a:xfrm>
            <a:off x="9692640" y="502920"/>
            <a:ext cx="2194560" cy="365760"/>
          </a:xfrm>
          <a:prstGeom prst="rect">
            <a:avLst/>
          </a:prstGeom>
          <a:noFill/>
        </p:spPr>
        <p:txBody>
          <a:bodyPr wrap="square">
            <a:spAutoFit/>
          </a:bodyPr>
          <a:lstStyle/>
          <a:p>
            <a:pPr algn="r"/>
            <a:r>
              <a:rPr sz="1300" b="0">
                <a:solidFill>
                  <a:srgbClr val="BFD3E6"/>
                </a:solidFill>
                <a:latin typeface="Yu Gothic"/>
              </a:rPr>
              <a:t>NO.7</a:t>
            </a:r>
          </a:p>
        </p:txBody>
      </p:sp>
      <p:sp>
        <p:nvSpPr>
          <p:cNvPr id="7" name="TextBox 6"/>
          <p:cNvSpPr txBox="1"/>
          <p:nvPr/>
        </p:nvSpPr>
        <p:spPr>
          <a:xfrm>
            <a:off x="502920" y="6510528"/>
            <a:ext cx="7315200" cy="274320"/>
          </a:xfrm>
          <a:prstGeom prst="rect">
            <a:avLst/>
          </a:prstGeom>
          <a:noFill/>
        </p:spPr>
        <p:txBody>
          <a:bodyPr wrap="square">
            <a:spAutoFit/>
          </a:bodyPr>
          <a:lstStyle/>
          <a:p>
            <a:pPr algn="l"/>
            <a:r>
              <a:rPr sz="900" b="0">
                <a:solidFill>
                  <a:srgbClr val="6B7680"/>
                </a:solidFill>
                <a:latin typeface="Yu Gothic"/>
              </a:rPr>
              <a:t>画像特徴量を用いた店頭広告に対する通行人関心度推定手法の提案</a:t>
            </a:r>
          </a:p>
        </p:txBody>
      </p:sp>
      <p:sp>
        <p:nvSpPr>
          <p:cNvPr id="8" name="Rounded Rectangle 7"/>
          <p:cNvSpPr/>
          <p:nvPr/>
        </p:nvSpPr>
        <p:spPr>
          <a:xfrm>
            <a:off x="1112367" y="2377440"/>
            <a:ext cx="2286000" cy="1188720"/>
          </a:xfrm>
          <a:prstGeom prst="roundRect">
            <a:avLst/>
          </a:prstGeom>
          <a:solidFill>
            <a:srgbClr val="2E86C1"/>
          </a:solidFill>
          <a:ln>
            <a:solidFill>
              <a:srgbClr val="2E86C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Yu Gothic"/>
              </a:rPr>
              <a:t>動画入力</a:t>
            </a:r>
          </a:p>
        </p:txBody>
      </p:sp>
      <p:sp>
        <p:nvSpPr>
          <p:cNvPr id="9" name="Right Arrow 8"/>
          <p:cNvSpPr/>
          <p:nvPr/>
        </p:nvSpPr>
        <p:spPr>
          <a:xfrm>
            <a:off x="3398367" y="2862072"/>
            <a:ext cx="274320" cy="219456"/>
          </a:xfrm>
          <a:prstGeom prst="rightArrow">
            <a:avLst/>
          </a:prstGeom>
          <a:solidFill>
            <a:srgbClr val="6B76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672687" y="2377440"/>
            <a:ext cx="2286000" cy="1188720"/>
          </a:xfrm>
          <a:prstGeom prst="roundRect">
            <a:avLst/>
          </a:prstGeom>
          <a:solidFill>
            <a:srgbClr val="2E86C1"/>
          </a:solidFill>
          <a:ln>
            <a:solidFill>
              <a:srgbClr val="2E86C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Yu Gothic"/>
              </a:rPr>
              <a:t>人物検出</a:t>
            </a:r>
            <a:br/>
            <a:r>
              <a:rPr sz="1400" b="1">
                <a:solidFill>
                  <a:srgbClr val="FFFFFF"/>
                </a:solidFill>
                <a:latin typeface="Yu Gothic"/>
              </a:rPr>
              <a:t>(YOLOv11)</a:t>
            </a:r>
          </a:p>
        </p:txBody>
      </p:sp>
      <p:sp>
        <p:nvSpPr>
          <p:cNvPr id="11" name="Right Arrow 10"/>
          <p:cNvSpPr/>
          <p:nvPr/>
        </p:nvSpPr>
        <p:spPr>
          <a:xfrm>
            <a:off x="5958687" y="2862072"/>
            <a:ext cx="274320" cy="219456"/>
          </a:xfrm>
          <a:prstGeom prst="rightArrow">
            <a:avLst/>
          </a:prstGeom>
          <a:solidFill>
            <a:srgbClr val="6B76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33007" y="2377440"/>
            <a:ext cx="2286000" cy="1188720"/>
          </a:xfrm>
          <a:prstGeom prst="roundRect">
            <a:avLst/>
          </a:prstGeom>
          <a:solidFill>
            <a:srgbClr val="2E86C1"/>
          </a:solidFill>
          <a:ln>
            <a:solidFill>
              <a:srgbClr val="2E86C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Yu Gothic"/>
              </a:rPr>
              <a:t>人物追跡</a:t>
            </a:r>
            <a:br/>
            <a:r>
              <a:rPr sz="1400" b="1">
                <a:solidFill>
                  <a:srgbClr val="FFFFFF"/>
                </a:solidFill>
                <a:latin typeface="Yu Gothic"/>
              </a:rPr>
              <a:t>(ByteTrack)</a:t>
            </a:r>
          </a:p>
        </p:txBody>
      </p:sp>
      <p:sp>
        <p:nvSpPr>
          <p:cNvPr id="13" name="Right Arrow 12"/>
          <p:cNvSpPr/>
          <p:nvPr/>
        </p:nvSpPr>
        <p:spPr>
          <a:xfrm>
            <a:off x="8519007" y="2862072"/>
            <a:ext cx="274320" cy="219456"/>
          </a:xfrm>
          <a:prstGeom prst="rightArrow">
            <a:avLst/>
          </a:prstGeom>
          <a:solidFill>
            <a:srgbClr val="6B76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793327" y="2377440"/>
            <a:ext cx="2286000" cy="1188720"/>
          </a:xfrm>
          <a:prstGeom prst="roundRect">
            <a:avLst/>
          </a:prstGeom>
          <a:solidFill>
            <a:srgbClr val="2E86C1"/>
          </a:solidFill>
          <a:ln>
            <a:solidFill>
              <a:srgbClr val="2E86C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Yu Gothic"/>
              </a:rPr>
              <a:t>滞在時間の計測／</a:t>
            </a:r>
            <a:br/>
            <a:r>
              <a:rPr sz="1400" b="1">
                <a:solidFill>
                  <a:srgbClr val="FFFFFF"/>
                </a:solidFill>
                <a:latin typeface="Yu Gothic"/>
              </a:rPr>
              <a:t>顔向き推定</a:t>
            </a:r>
          </a:p>
        </p:txBody>
      </p:sp>
      <p:sp>
        <p:nvSpPr>
          <p:cNvPr id="15" name="TextBox 14"/>
          <p:cNvSpPr txBox="1"/>
          <p:nvPr/>
        </p:nvSpPr>
        <p:spPr>
          <a:xfrm>
            <a:off x="640080" y="4206240"/>
            <a:ext cx="10881360" cy="914400"/>
          </a:xfrm>
          <a:prstGeom prst="rect">
            <a:avLst/>
          </a:prstGeom>
          <a:noFill/>
        </p:spPr>
        <p:txBody>
          <a:bodyPr wrap="square">
            <a:spAutoFit/>
          </a:bodyPr>
          <a:lstStyle/>
          <a:p>
            <a:pPr algn="l"/>
            <a:r>
              <a:rPr sz="1700" b="0">
                <a:solidFill>
                  <a:srgbClr val="6B7680"/>
                </a:solidFill>
                <a:latin typeface="Yu Gothic"/>
              </a:rPr>
              <a:t>今回のゼミ発表では、上記のうち「人物検出」「人物追跡」「滞在時間の計測」「顔向き推定」までを実装した。</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601200" cy="731520"/>
          </a:xfrm>
          <a:prstGeom prst="rect">
            <a:avLst/>
          </a:prstGeom>
          <a:noFill/>
        </p:spPr>
        <p:txBody>
          <a:bodyPr wrap="square" anchor="ctr">
            <a:spAutoFit/>
          </a:bodyPr>
          <a:lstStyle/>
          <a:p>
            <a:pPr algn="l"/>
            <a:r>
              <a:rPr sz="2600" b="1">
                <a:solidFill>
                  <a:srgbClr val="FFFFFF"/>
                </a:solidFill>
                <a:latin typeface="Yu Gothic"/>
              </a:rPr>
              <a:t>研究計画（3） 使用技術</a:t>
            </a:r>
          </a:p>
        </p:txBody>
      </p:sp>
      <p:sp>
        <p:nvSpPr>
          <p:cNvPr id="5" name="TextBox 4"/>
          <p:cNvSpPr txBox="1"/>
          <p:nvPr/>
        </p:nvSpPr>
        <p:spPr>
          <a:xfrm>
            <a:off x="9692640" y="137160"/>
            <a:ext cx="2194560" cy="320040"/>
          </a:xfrm>
          <a:prstGeom prst="rect">
            <a:avLst/>
          </a:prstGeom>
          <a:noFill/>
        </p:spPr>
        <p:txBody>
          <a:bodyPr wrap="square">
            <a:spAutoFit/>
          </a:bodyPr>
          <a:lstStyle/>
          <a:p>
            <a:pPr algn="r"/>
            <a:r>
              <a:rPr sz="1100" b="0">
                <a:solidFill>
                  <a:srgbClr val="BFD3E6"/>
                </a:solidFill>
                <a:latin typeface="Yu Gothic"/>
              </a:rPr>
              <a:t>3. 研究計画</a:t>
            </a:r>
          </a:p>
        </p:txBody>
      </p:sp>
      <p:sp>
        <p:nvSpPr>
          <p:cNvPr id="6" name="TextBox 5"/>
          <p:cNvSpPr txBox="1"/>
          <p:nvPr/>
        </p:nvSpPr>
        <p:spPr>
          <a:xfrm>
            <a:off x="9692640" y="502920"/>
            <a:ext cx="2194560" cy="365760"/>
          </a:xfrm>
          <a:prstGeom prst="rect">
            <a:avLst/>
          </a:prstGeom>
          <a:noFill/>
        </p:spPr>
        <p:txBody>
          <a:bodyPr wrap="square">
            <a:spAutoFit/>
          </a:bodyPr>
          <a:lstStyle/>
          <a:p>
            <a:pPr algn="r"/>
            <a:r>
              <a:rPr sz="1300" b="0">
                <a:solidFill>
                  <a:srgbClr val="BFD3E6"/>
                </a:solidFill>
                <a:latin typeface="Yu Gothic"/>
              </a:rPr>
              <a:t>NO.8</a:t>
            </a:r>
          </a:p>
        </p:txBody>
      </p:sp>
      <p:sp>
        <p:nvSpPr>
          <p:cNvPr id="7" name="TextBox 6"/>
          <p:cNvSpPr txBox="1"/>
          <p:nvPr/>
        </p:nvSpPr>
        <p:spPr>
          <a:xfrm>
            <a:off x="502920" y="6510528"/>
            <a:ext cx="7315200" cy="274320"/>
          </a:xfrm>
          <a:prstGeom prst="rect">
            <a:avLst/>
          </a:prstGeom>
          <a:noFill/>
        </p:spPr>
        <p:txBody>
          <a:bodyPr wrap="square">
            <a:spAutoFit/>
          </a:bodyPr>
          <a:lstStyle/>
          <a:p>
            <a:pPr algn="l"/>
            <a:r>
              <a:rPr sz="900" b="0">
                <a:solidFill>
                  <a:srgbClr val="6B7680"/>
                </a:solidFill>
                <a:latin typeface="Yu Gothic"/>
              </a:rPr>
              <a:t>画像特徴量を用いた店頭広告に対する通行人関心度推定手法の提案</a:t>
            </a:r>
          </a:p>
        </p:txBody>
      </p:sp>
      <p:graphicFrame>
        <p:nvGraphicFramePr>
          <p:cNvPr id="8" name="Table 7"/>
          <p:cNvGraphicFramePr>
            <a:graphicFrameLocks noGrp="1"/>
          </p:cNvGraphicFramePr>
          <p:nvPr/>
        </p:nvGraphicFramePr>
        <p:xfrm>
          <a:off x="1645920" y="1645920"/>
          <a:ext cx="8869680" cy="3108960"/>
        </p:xfrm>
        <a:graphic>
          <a:graphicData uri="http://schemas.openxmlformats.org/drawingml/2006/table">
            <a:tbl>
              <a:tblPr firstRow="1" bandRow="1">
                <a:tableStyleId>{5C22544A-7EE6-4342-B048-85BDC9FD1C3A}</a:tableStyleId>
              </a:tblPr>
              <a:tblGrid>
                <a:gridCol w="4114800"/>
                <a:gridCol w="4754880"/>
              </a:tblGrid>
              <a:tr h="621792">
                <a:tc>
                  <a:txBody>
                    <a:bodyPr/>
                    <a:lstStyle/>
                    <a:p>
                      <a:pPr algn="ctr"/>
                      <a:r>
                        <a:rPr sz="1700" b="1">
                          <a:solidFill>
                            <a:srgbClr val="FFFFFF"/>
                          </a:solidFill>
                          <a:latin typeface="Yu Gothic"/>
                        </a:rPr>
                        <a:t>技術</a:t>
                      </a:r>
                    </a:p>
                  </a:txBody>
                  <a:tcPr anchor="ctr">
                    <a:solidFill>
                      <a:srgbClr val="1F3A5F"/>
                    </a:solidFill>
                  </a:tcPr>
                </a:tc>
                <a:tc>
                  <a:txBody>
                    <a:bodyPr/>
                    <a:lstStyle/>
                    <a:p>
                      <a:pPr algn="ctr"/>
                      <a:r>
                        <a:rPr sz="1700" b="1">
                          <a:solidFill>
                            <a:srgbClr val="FFFFFF"/>
                          </a:solidFill>
                          <a:latin typeface="Yu Gothic"/>
                        </a:rPr>
                        <a:t>用途</a:t>
                      </a:r>
                    </a:p>
                  </a:txBody>
                  <a:tcPr anchor="ctr">
                    <a:solidFill>
                      <a:srgbClr val="1F3A5F"/>
                    </a:solidFill>
                  </a:tcPr>
                </a:tc>
              </a:tr>
              <a:tr h="621792">
                <a:tc>
                  <a:txBody>
                    <a:bodyPr/>
                    <a:lstStyle/>
                    <a:p>
                      <a:pPr algn="ctr"/>
                      <a:r>
                        <a:rPr sz="1700">
                          <a:solidFill>
                            <a:srgbClr val="2C333A"/>
                          </a:solidFill>
                          <a:latin typeface="Yu Gothic"/>
                        </a:rPr>
                        <a:t>YOLOv11（ultralytics）</a:t>
                      </a:r>
                    </a:p>
                  </a:txBody>
                  <a:tcPr anchor="ctr">
                    <a:solidFill>
                      <a:srgbClr val="FFFFFF"/>
                    </a:solidFill>
                  </a:tcPr>
                </a:tc>
                <a:tc>
                  <a:txBody>
                    <a:bodyPr/>
                    <a:lstStyle/>
                    <a:p>
                      <a:pPr algn="ctr"/>
                      <a:r>
                        <a:rPr sz="1700">
                          <a:solidFill>
                            <a:srgbClr val="2C333A"/>
                          </a:solidFill>
                          <a:latin typeface="Yu Gothic"/>
                        </a:rPr>
                        <a:t>人物検出</a:t>
                      </a:r>
                    </a:p>
                  </a:txBody>
                  <a:tcPr anchor="ctr">
                    <a:solidFill>
                      <a:srgbClr val="FFFFFF"/>
                    </a:solidFill>
                  </a:tcPr>
                </a:tc>
              </a:tr>
              <a:tr h="621792">
                <a:tc>
                  <a:txBody>
                    <a:bodyPr/>
                    <a:lstStyle/>
                    <a:p>
                      <a:pPr algn="ctr"/>
                      <a:r>
                        <a:rPr sz="1700">
                          <a:solidFill>
                            <a:srgbClr val="2C333A"/>
                          </a:solidFill>
                          <a:latin typeface="Yu Gothic"/>
                        </a:rPr>
                        <a:t>ByteTrack（ultralytics 内蔵）</a:t>
                      </a:r>
                    </a:p>
                  </a:txBody>
                  <a:tcPr anchor="ctr">
                    <a:solidFill>
                      <a:srgbClr val="F4F7FA"/>
                    </a:solidFill>
                  </a:tcPr>
                </a:tc>
                <a:tc>
                  <a:txBody>
                    <a:bodyPr/>
                    <a:lstStyle/>
                    <a:p>
                      <a:pPr algn="ctr"/>
                      <a:r>
                        <a:rPr sz="1700">
                          <a:solidFill>
                            <a:srgbClr val="2C333A"/>
                          </a:solidFill>
                          <a:latin typeface="Yu Gothic"/>
                        </a:rPr>
                        <a:t>人物追跡・ID付与</a:t>
                      </a:r>
                    </a:p>
                  </a:txBody>
                  <a:tcPr anchor="ctr">
                    <a:solidFill>
                      <a:srgbClr val="F4F7FA"/>
                    </a:solidFill>
                  </a:tcPr>
                </a:tc>
              </a:tr>
              <a:tr h="621792">
                <a:tc>
                  <a:txBody>
                    <a:bodyPr/>
                    <a:lstStyle/>
                    <a:p>
                      <a:pPr algn="ctr"/>
                      <a:r>
                        <a:rPr sz="1700">
                          <a:solidFill>
                            <a:srgbClr val="2C333A"/>
                          </a:solidFill>
                          <a:latin typeface="Yu Gothic"/>
                        </a:rPr>
                        <a:t>MediaPipe FaceMesh</a:t>
                      </a:r>
                    </a:p>
                  </a:txBody>
                  <a:tcPr anchor="ctr">
                    <a:solidFill>
                      <a:srgbClr val="FFFFFF"/>
                    </a:solidFill>
                  </a:tcPr>
                </a:tc>
                <a:tc>
                  <a:txBody>
                    <a:bodyPr/>
                    <a:lstStyle/>
                    <a:p>
                      <a:pPr algn="ctr"/>
                      <a:r>
                        <a:rPr sz="1700">
                          <a:solidFill>
                            <a:srgbClr val="2C333A"/>
                          </a:solidFill>
                          <a:latin typeface="Yu Gothic"/>
                        </a:rPr>
                        <a:t>顔向き推定（Yaw角）</a:t>
                      </a:r>
                    </a:p>
                  </a:txBody>
                  <a:tcPr anchor="ctr">
                    <a:solidFill>
                      <a:srgbClr val="FFFFFF"/>
                    </a:solidFill>
                  </a:tcPr>
                </a:tc>
              </a:tr>
              <a:tr h="621792">
                <a:tc>
                  <a:txBody>
                    <a:bodyPr/>
                    <a:lstStyle/>
                    <a:p>
                      <a:pPr algn="ctr"/>
                      <a:r>
                        <a:rPr sz="1700">
                          <a:solidFill>
                            <a:srgbClr val="2C333A"/>
                          </a:solidFill>
                          <a:latin typeface="Yu Gothic"/>
                        </a:rPr>
                        <a:t>OpenCV</a:t>
                      </a:r>
                    </a:p>
                  </a:txBody>
                  <a:tcPr anchor="ctr">
                    <a:solidFill>
                      <a:srgbClr val="F4F7FA"/>
                    </a:solidFill>
                  </a:tcPr>
                </a:tc>
                <a:tc>
                  <a:txBody>
                    <a:bodyPr/>
                    <a:lstStyle/>
                    <a:p>
                      <a:pPr algn="ctr"/>
                      <a:r>
                        <a:rPr sz="1700">
                          <a:solidFill>
                            <a:srgbClr val="2C333A"/>
                          </a:solidFill>
                          <a:latin typeface="Yu Gothic"/>
                        </a:rPr>
                        <a:t>動画処理・描画</a:t>
                      </a:r>
                    </a:p>
                  </a:txBody>
                  <a:tcPr anchor="ctr">
                    <a:solidFill>
                      <a:srgbClr val="F4F7FA"/>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601200" cy="731520"/>
          </a:xfrm>
          <a:prstGeom prst="rect">
            <a:avLst/>
          </a:prstGeom>
          <a:noFill/>
        </p:spPr>
        <p:txBody>
          <a:bodyPr wrap="square" anchor="ctr">
            <a:spAutoFit/>
          </a:bodyPr>
          <a:lstStyle/>
          <a:p>
            <a:pPr algn="l"/>
            <a:r>
              <a:rPr sz="2600" b="1">
                <a:solidFill>
                  <a:srgbClr val="FFFFFF"/>
                </a:solidFill>
                <a:latin typeface="Yu Gothic"/>
              </a:rPr>
              <a:t>今回実施した内容（1） 実験環境</a:t>
            </a:r>
          </a:p>
        </p:txBody>
      </p:sp>
      <p:sp>
        <p:nvSpPr>
          <p:cNvPr id="5" name="TextBox 4"/>
          <p:cNvSpPr txBox="1"/>
          <p:nvPr/>
        </p:nvSpPr>
        <p:spPr>
          <a:xfrm>
            <a:off x="9692640" y="137160"/>
            <a:ext cx="2194560" cy="320040"/>
          </a:xfrm>
          <a:prstGeom prst="rect">
            <a:avLst/>
          </a:prstGeom>
          <a:noFill/>
        </p:spPr>
        <p:txBody>
          <a:bodyPr wrap="square">
            <a:spAutoFit/>
          </a:bodyPr>
          <a:lstStyle/>
          <a:p>
            <a:pPr algn="r"/>
            <a:r>
              <a:rPr sz="1100" b="0">
                <a:solidFill>
                  <a:srgbClr val="BFD3E6"/>
                </a:solidFill>
                <a:latin typeface="Yu Gothic"/>
              </a:rPr>
              <a:t>4. 実施内容</a:t>
            </a:r>
          </a:p>
        </p:txBody>
      </p:sp>
      <p:sp>
        <p:nvSpPr>
          <p:cNvPr id="6" name="TextBox 5"/>
          <p:cNvSpPr txBox="1"/>
          <p:nvPr/>
        </p:nvSpPr>
        <p:spPr>
          <a:xfrm>
            <a:off x="9692640" y="502920"/>
            <a:ext cx="2194560" cy="365760"/>
          </a:xfrm>
          <a:prstGeom prst="rect">
            <a:avLst/>
          </a:prstGeom>
          <a:noFill/>
        </p:spPr>
        <p:txBody>
          <a:bodyPr wrap="square">
            <a:spAutoFit/>
          </a:bodyPr>
          <a:lstStyle/>
          <a:p>
            <a:pPr algn="r"/>
            <a:r>
              <a:rPr sz="1300" b="0">
                <a:solidFill>
                  <a:srgbClr val="BFD3E6"/>
                </a:solidFill>
                <a:latin typeface="Yu Gothic"/>
              </a:rPr>
              <a:t>NO.9</a:t>
            </a:r>
          </a:p>
        </p:txBody>
      </p:sp>
      <p:sp>
        <p:nvSpPr>
          <p:cNvPr id="7" name="TextBox 6"/>
          <p:cNvSpPr txBox="1"/>
          <p:nvPr/>
        </p:nvSpPr>
        <p:spPr>
          <a:xfrm>
            <a:off x="502920" y="6510528"/>
            <a:ext cx="7315200" cy="274320"/>
          </a:xfrm>
          <a:prstGeom prst="rect">
            <a:avLst/>
          </a:prstGeom>
          <a:noFill/>
        </p:spPr>
        <p:txBody>
          <a:bodyPr wrap="square">
            <a:spAutoFit/>
          </a:bodyPr>
          <a:lstStyle/>
          <a:p>
            <a:pPr algn="l"/>
            <a:r>
              <a:rPr sz="900" b="0">
                <a:solidFill>
                  <a:srgbClr val="6B7680"/>
                </a:solidFill>
                <a:latin typeface="Yu Gothic"/>
              </a:rPr>
              <a:t>画像特徴量を用いた店頭広告に対する通行人関心度推定手法の提案</a:t>
            </a:r>
          </a:p>
        </p:txBody>
      </p:sp>
      <p:sp>
        <p:nvSpPr>
          <p:cNvPr id="8" name="TextBox 7"/>
          <p:cNvSpPr txBox="1"/>
          <p:nvPr/>
        </p:nvSpPr>
        <p:spPr>
          <a:xfrm>
            <a:off x="640080" y="1463040"/>
            <a:ext cx="10881360" cy="2286000"/>
          </a:xfrm>
          <a:prstGeom prst="rect">
            <a:avLst/>
          </a:prstGeom>
          <a:noFill/>
        </p:spPr>
        <p:txBody>
          <a:bodyPr wrap="square">
            <a:spAutoFit/>
          </a:bodyPr>
          <a:lstStyle/>
          <a:p>
            <a:pPr>
              <a:spcAft>
                <a:spcPts val="1000"/>
              </a:spcAft>
            </a:pPr>
            <a:r>
              <a:rPr sz="1900">
                <a:solidFill>
                  <a:srgbClr val="2C333A"/>
                </a:solidFill>
                <a:latin typeface="Yu Gothic"/>
              </a:rPr>
              <a:t>・固定カメラを設置し、画角内に店頭広告を配置</a:t>
            </a:r>
          </a:p>
          <a:p>
            <a:pPr>
              <a:spcAft>
                <a:spcPts val="1000"/>
              </a:spcAft>
            </a:pPr>
            <a:r>
              <a:rPr sz="1900">
                <a:solidFill>
                  <a:srgbClr val="2C333A"/>
                </a:solidFill>
                <a:latin typeface="Yu Gothic"/>
              </a:rPr>
              <a:t>・実験協力者3名（本人含む）が順番に画角内を通過・立ち止まる動作を実施</a:t>
            </a:r>
          </a:p>
          <a:p>
            <a:pPr>
              <a:spcAft>
                <a:spcPts val="1000"/>
              </a:spcAft>
            </a:pPr>
            <a:r>
              <a:rPr sz="1900">
                <a:solidFill>
                  <a:srgbClr val="2C333A"/>
                </a:solidFill>
                <a:latin typeface="Yu Gothic"/>
              </a:rPr>
              <a:t>・その映像を解析対象として使用</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601200" cy="731520"/>
          </a:xfrm>
          <a:prstGeom prst="rect">
            <a:avLst/>
          </a:prstGeom>
          <a:noFill/>
        </p:spPr>
        <p:txBody>
          <a:bodyPr wrap="square" anchor="ctr">
            <a:spAutoFit/>
          </a:bodyPr>
          <a:lstStyle/>
          <a:p>
            <a:pPr algn="l"/>
            <a:r>
              <a:rPr sz="2600" b="1">
                <a:solidFill>
                  <a:srgbClr val="FFFFFF"/>
                </a:solidFill>
                <a:latin typeface="Yu Gothic"/>
              </a:rPr>
              <a:t>今回実施した内容（2） 人物検出（YOLOv11）</a:t>
            </a:r>
          </a:p>
        </p:txBody>
      </p:sp>
      <p:sp>
        <p:nvSpPr>
          <p:cNvPr id="5" name="TextBox 4"/>
          <p:cNvSpPr txBox="1"/>
          <p:nvPr/>
        </p:nvSpPr>
        <p:spPr>
          <a:xfrm>
            <a:off x="9692640" y="137160"/>
            <a:ext cx="2194560" cy="320040"/>
          </a:xfrm>
          <a:prstGeom prst="rect">
            <a:avLst/>
          </a:prstGeom>
          <a:noFill/>
        </p:spPr>
        <p:txBody>
          <a:bodyPr wrap="square">
            <a:spAutoFit/>
          </a:bodyPr>
          <a:lstStyle/>
          <a:p>
            <a:pPr algn="r"/>
            <a:r>
              <a:rPr sz="1100" b="0">
                <a:solidFill>
                  <a:srgbClr val="BFD3E6"/>
                </a:solidFill>
                <a:latin typeface="Yu Gothic"/>
              </a:rPr>
              <a:t>4. 実施内容</a:t>
            </a:r>
          </a:p>
        </p:txBody>
      </p:sp>
      <p:sp>
        <p:nvSpPr>
          <p:cNvPr id="6" name="TextBox 5"/>
          <p:cNvSpPr txBox="1"/>
          <p:nvPr/>
        </p:nvSpPr>
        <p:spPr>
          <a:xfrm>
            <a:off x="9692640" y="502920"/>
            <a:ext cx="2194560" cy="365760"/>
          </a:xfrm>
          <a:prstGeom prst="rect">
            <a:avLst/>
          </a:prstGeom>
          <a:noFill/>
        </p:spPr>
        <p:txBody>
          <a:bodyPr wrap="square">
            <a:spAutoFit/>
          </a:bodyPr>
          <a:lstStyle/>
          <a:p>
            <a:pPr algn="r"/>
            <a:r>
              <a:rPr sz="1300" b="0">
                <a:solidFill>
                  <a:srgbClr val="BFD3E6"/>
                </a:solidFill>
                <a:latin typeface="Yu Gothic"/>
              </a:rPr>
              <a:t>NO.10</a:t>
            </a:r>
          </a:p>
        </p:txBody>
      </p:sp>
      <p:sp>
        <p:nvSpPr>
          <p:cNvPr id="7" name="TextBox 6"/>
          <p:cNvSpPr txBox="1"/>
          <p:nvPr/>
        </p:nvSpPr>
        <p:spPr>
          <a:xfrm>
            <a:off x="502920" y="6510528"/>
            <a:ext cx="7315200" cy="274320"/>
          </a:xfrm>
          <a:prstGeom prst="rect">
            <a:avLst/>
          </a:prstGeom>
          <a:noFill/>
        </p:spPr>
        <p:txBody>
          <a:bodyPr wrap="square">
            <a:spAutoFit/>
          </a:bodyPr>
          <a:lstStyle/>
          <a:p>
            <a:pPr algn="l"/>
            <a:r>
              <a:rPr sz="900" b="0">
                <a:solidFill>
                  <a:srgbClr val="6B7680"/>
                </a:solidFill>
                <a:latin typeface="Yu Gothic"/>
              </a:rPr>
              <a:t>画像特徴量を用いた店頭広告に対する通行人関心度推定手法の提案</a:t>
            </a:r>
          </a:p>
        </p:txBody>
      </p:sp>
      <p:sp>
        <p:nvSpPr>
          <p:cNvPr id="8" name="TextBox 7"/>
          <p:cNvSpPr txBox="1"/>
          <p:nvPr/>
        </p:nvSpPr>
        <p:spPr>
          <a:xfrm>
            <a:off x="640080" y="1463040"/>
            <a:ext cx="10881360" cy="2377440"/>
          </a:xfrm>
          <a:prstGeom prst="rect">
            <a:avLst/>
          </a:prstGeom>
          <a:noFill/>
        </p:spPr>
        <p:txBody>
          <a:bodyPr wrap="square">
            <a:spAutoFit/>
          </a:bodyPr>
          <a:lstStyle/>
          <a:p>
            <a:pPr>
              <a:spcAft>
                <a:spcPts val="1000"/>
              </a:spcAft>
            </a:pPr>
            <a:r>
              <a:rPr sz="1900">
                <a:solidFill>
                  <a:srgbClr val="2C333A"/>
                </a:solidFill>
                <a:latin typeface="Yu Gothic"/>
              </a:rPr>
              <a:t>・YOLOv11 を用いて映像中の人物をフレームごとに検出</a:t>
            </a:r>
          </a:p>
          <a:p>
            <a:pPr>
              <a:spcAft>
                <a:spcPts val="1000"/>
              </a:spcAft>
            </a:pPr>
            <a:r>
              <a:rPr sz="1900">
                <a:solidFill>
                  <a:srgbClr val="2C333A"/>
                </a:solidFill>
                <a:latin typeface="Yu Gothic"/>
              </a:rPr>
              <a:t>・検出結果はバウンディングボックスと信頼スコアとして取得</a:t>
            </a:r>
          </a:p>
          <a:p>
            <a:pPr>
              <a:spcAft>
                <a:spcPts val="1000"/>
              </a:spcAft>
            </a:pPr>
            <a:r>
              <a:rPr sz="1900">
                <a:solidFill>
                  <a:srgbClr val="2C333A"/>
                </a:solidFill>
                <a:latin typeface="Yu Gothic"/>
              </a:rPr>
              <a:t>・事前学習済みモデルを使用し、追加学習なしで人物クラスの検出を実現</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601200" cy="731520"/>
          </a:xfrm>
          <a:prstGeom prst="rect">
            <a:avLst/>
          </a:prstGeom>
          <a:noFill/>
        </p:spPr>
        <p:txBody>
          <a:bodyPr wrap="square" anchor="ctr">
            <a:spAutoFit/>
          </a:bodyPr>
          <a:lstStyle/>
          <a:p>
            <a:pPr algn="l"/>
            <a:r>
              <a:rPr sz="2600" b="1">
                <a:solidFill>
                  <a:srgbClr val="FFFFFF"/>
                </a:solidFill>
                <a:latin typeface="Yu Gothic"/>
              </a:rPr>
              <a:t>今回実施した内容（3） 人物追跡（ByteTrack）</a:t>
            </a:r>
          </a:p>
        </p:txBody>
      </p:sp>
      <p:sp>
        <p:nvSpPr>
          <p:cNvPr id="5" name="TextBox 4"/>
          <p:cNvSpPr txBox="1"/>
          <p:nvPr/>
        </p:nvSpPr>
        <p:spPr>
          <a:xfrm>
            <a:off x="9692640" y="137160"/>
            <a:ext cx="2194560" cy="320040"/>
          </a:xfrm>
          <a:prstGeom prst="rect">
            <a:avLst/>
          </a:prstGeom>
          <a:noFill/>
        </p:spPr>
        <p:txBody>
          <a:bodyPr wrap="square">
            <a:spAutoFit/>
          </a:bodyPr>
          <a:lstStyle/>
          <a:p>
            <a:pPr algn="r"/>
            <a:r>
              <a:rPr sz="1100" b="0">
                <a:solidFill>
                  <a:srgbClr val="BFD3E6"/>
                </a:solidFill>
                <a:latin typeface="Yu Gothic"/>
              </a:rPr>
              <a:t>4. 実施内容</a:t>
            </a:r>
          </a:p>
        </p:txBody>
      </p:sp>
      <p:sp>
        <p:nvSpPr>
          <p:cNvPr id="6" name="TextBox 5"/>
          <p:cNvSpPr txBox="1"/>
          <p:nvPr/>
        </p:nvSpPr>
        <p:spPr>
          <a:xfrm>
            <a:off x="9692640" y="502920"/>
            <a:ext cx="2194560" cy="365760"/>
          </a:xfrm>
          <a:prstGeom prst="rect">
            <a:avLst/>
          </a:prstGeom>
          <a:noFill/>
        </p:spPr>
        <p:txBody>
          <a:bodyPr wrap="square">
            <a:spAutoFit/>
          </a:bodyPr>
          <a:lstStyle/>
          <a:p>
            <a:pPr algn="r"/>
            <a:r>
              <a:rPr sz="1300" b="0">
                <a:solidFill>
                  <a:srgbClr val="BFD3E6"/>
                </a:solidFill>
                <a:latin typeface="Yu Gothic"/>
              </a:rPr>
              <a:t>NO.11</a:t>
            </a:r>
          </a:p>
        </p:txBody>
      </p:sp>
      <p:sp>
        <p:nvSpPr>
          <p:cNvPr id="7" name="TextBox 6"/>
          <p:cNvSpPr txBox="1"/>
          <p:nvPr/>
        </p:nvSpPr>
        <p:spPr>
          <a:xfrm>
            <a:off x="502920" y="6510528"/>
            <a:ext cx="7315200" cy="274320"/>
          </a:xfrm>
          <a:prstGeom prst="rect">
            <a:avLst/>
          </a:prstGeom>
          <a:noFill/>
        </p:spPr>
        <p:txBody>
          <a:bodyPr wrap="square">
            <a:spAutoFit/>
          </a:bodyPr>
          <a:lstStyle/>
          <a:p>
            <a:pPr algn="l"/>
            <a:r>
              <a:rPr sz="900" b="0">
                <a:solidFill>
                  <a:srgbClr val="6B7680"/>
                </a:solidFill>
                <a:latin typeface="Yu Gothic"/>
              </a:rPr>
              <a:t>画像特徴量を用いた店頭広告に対する通行人関心度推定手法の提案</a:t>
            </a:r>
          </a:p>
        </p:txBody>
      </p:sp>
      <p:sp>
        <p:nvSpPr>
          <p:cNvPr id="8" name="TextBox 7"/>
          <p:cNvSpPr txBox="1"/>
          <p:nvPr/>
        </p:nvSpPr>
        <p:spPr>
          <a:xfrm>
            <a:off x="640080" y="1463040"/>
            <a:ext cx="10881360" cy="2377440"/>
          </a:xfrm>
          <a:prstGeom prst="rect">
            <a:avLst/>
          </a:prstGeom>
          <a:noFill/>
        </p:spPr>
        <p:txBody>
          <a:bodyPr wrap="square">
            <a:spAutoFit/>
          </a:bodyPr>
          <a:lstStyle/>
          <a:p>
            <a:pPr>
              <a:spcAft>
                <a:spcPts val="1000"/>
              </a:spcAft>
            </a:pPr>
            <a:r>
              <a:rPr sz="1900">
                <a:solidFill>
                  <a:srgbClr val="2C333A"/>
                </a:solidFill>
                <a:latin typeface="Yu Gothic"/>
              </a:rPr>
              <a:t>・ByteTrack（ultralytics に組み込み済み）を使用</a:t>
            </a:r>
          </a:p>
          <a:p>
            <a:pPr>
              <a:spcAft>
                <a:spcPts val="1000"/>
              </a:spcAft>
            </a:pPr>
            <a:r>
              <a:rPr sz="1900">
                <a:solidFill>
                  <a:srgbClr val="2C333A"/>
                </a:solidFill>
                <a:latin typeface="Yu Gothic"/>
              </a:rPr>
              <a:t>・検出された人物に一貫したID（ID1, ID2, ID3）を付与</a:t>
            </a:r>
          </a:p>
          <a:p>
            <a:pPr>
              <a:spcAft>
                <a:spcPts val="1000"/>
              </a:spcAft>
            </a:pPr>
            <a:r>
              <a:rPr sz="1900">
                <a:solidFill>
                  <a:srgbClr val="2C333A"/>
                </a:solidFill>
                <a:latin typeface="Yu Gothic"/>
              </a:rPr>
              <a:t>・複数フレームにわたる同一人物の追跡が可能に</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601200" cy="731520"/>
          </a:xfrm>
          <a:prstGeom prst="rect">
            <a:avLst/>
          </a:prstGeom>
          <a:noFill/>
        </p:spPr>
        <p:txBody>
          <a:bodyPr wrap="square" anchor="ctr">
            <a:spAutoFit/>
          </a:bodyPr>
          <a:lstStyle/>
          <a:p>
            <a:pPr algn="l"/>
            <a:r>
              <a:rPr sz="2600" b="1">
                <a:solidFill>
                  <a:srgbClr val="FFFFFF"/>
                </a:solidFill>
                <a:latin typeface="Yu Gothic"/>
              </a:rPr>
              <a:t>今回実施した内容（4） 滞在時間の計測・顔向き推定</a:t>
            </a:r>
          </a:p>
        </p:txBody>
      </p:sp>
      <p:sp>
        <p:nvSpPr>
          <p:cNvPr id="5" name="TextBox 4"/>
          <p:cNvSpPr txBox="1"/>
          <p:nvPr/>
        </p:nvSpPr>
        <p:spPr>
          <a:xfrm>
            <a:off x="9692640" y="137160"/>
            <a:ext cx="2194560" cy="320040"/>
          </a:xfrm>
          <a:prstGeom prst="rect">
            <a:avLst/>
          </a:prstGeom>
          <a:noFill/>
        </p:spPr>
        <p:txBody>
          <a:bodyPr wrap="square">
            <a:spAutoFit/>
          </a:bodyPr>
          <a:lstStyle/>
          <a:p>
            <a:pPr algn="r"/>
            <a:r>
              <a:rPr sz="1100" b="0">
                <a:solidFill>
                  <a:srgbClr val="BFD3E6"/>
                </a:solidFill>
                <a:latin typeface="Yu Gothic"/>
              </a:rPr>
              <a:t>4. 実施内容</a:t>
            </a:r>
          </a:p>
        </p:txBody>
      </p:sp>
      <p:sp>
        <p:nvSpPr>
          <p:cNvPr id="6" name="TextBox 5"/>
          <p:cNvSpPr txBox="1"/>
          <p:nvPr/>
        </p:nvSpPr>
        <p:spPr>
          <a:xfrm>
            <a:off x="9692640" y="502920"/>
            <a:ext cx="2194560" cy="365760"/>
          </a:xfrm>
          <a:prstGeom prst="rect">
            <a:avLst/>
          </a:prstGeom>
          <a:noFill/>
        </p:spPr>
        <p:txBody>
          <a:bodyPr wrap="square">
            <a:spAutoFit/>
          </a:bodyPr>
          <a:lstStyle/>
          <a:p>
            <a:pPr algn="r"/>
            <a:r>
              <a:rPr sz="1300" b="0">
                <a:solidFill>
                  <a:srgbClr val="BFD3E6"/>
                </a:solidFill>
                <a:latin typeface="Yu Gothic"/>
              </a:rPr>
              <a:t>NO.12</a:t>
            </a:r>
          </a:p>
        </p:txBody>
      </p:sp>
      <p:sp>
        <p:nvSpPr>
          <p:cNvPr id="7" name="TextBox 6"/>
          <p:cNvSpPr txBox="1"/>
          <p:nvPr/>
        </p:nvSpPr>
        <p:spPr>
          <a:xfrm>
            <a:off x="502920" y="6510528"/>
            <a:ext cx="7315200" cy="274320"/>
          </a:xfrm>
          <a:prstGeom prst="rect">
            <a:avLst/>
          </a:prstGeom>
          <a:noFill/>
        </p:spPr>
        <p:txBody>
          <a:bodyPr wrap="square">
            <a:spAutoFit/>
          </a:bodyPr>
          <a:lstStyle/>
          <a:p>
            <a:pPr algn="l"/>
            <a:r>
              <a:rPr sz="900" b="0">
                <a:solidFill>
                  <a:srgbClr val="6B7680"/>
                </a:solidFill>
                <a:latin typeface="Yu Gothic"/>
              </a:rPr>
              <a:t>画像特徴量を用いた店頭広告に対する通行人関心度推定手法の提案</a:t>
            </a:r>
          </a:p>
        </p:txBody>
      </p:sp>
      <p:sp>
        <p:nvSpPr>
          <p:cNvPr id="8" name="TextBox 7"/>
          <p:cNvSpPr txBox="1"/>
          <p:nvPr/>
        </p:nvSpPr>
        <p:spPr>
          <a:xfrm>
            <a:off x="640080" y="1371600"/>
            <a:ext cx="5120640" cy="457200"/>
          </a:xfrm>
          <a:prstGeom prst="rect">
            <a:avLst/>
          </a:prstGeom>
          <a:noFill/>
        </p:spPr>
        <p:txBody>
          <a:bodyPr wrap="square">
            <a:spAutoFit/>
          </a:bodyPr>
          <a:lstStyle/>
          <a:p>
            <a:pPr algn="l"/>
            <a:r>
              <a:rPr sz="1800" b="1">
                <a:solidFill>
                  <a:srgbClr val="1F3A5F"/>
                </a:solidFill>
                <a:latin typeface="Yu Gothic"/>
              </a:rPr>
              <a:t>滞在時間の計測</a:t>
            </a:r>
          </a:p>
        </p:txBody>
      </p:sp>
      <p:sp>
        <p:nvSpPr>
          <p:cNvPr id="9" name="Rounded Rectangle 8"/>
          <p:cNvSpPr/>
          <p:nvPr/>
        </p:nvSpPr>
        <p:spPr>
          <a:xfrm>
            <a:off x="640080" y="1920240"/>
            <a:ext cx="5120640" cy="914400"/>
          </a:xfrm>
          <a:prstGeom prst="roundRect">
            <a:avLst/>
          </a:prstGeom>
          <a:solidFill>
            <a:srgbClr val="F4F7FA"/>
          </a:solidFill>
          <a:ln>
            <a:solidFill>
              <a:srgbClr val="F4F7F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2C333A"/>
                </a:solidFill>
                <a:latin typeface="Yu Gothic"/>
              </a:rPr>
              <a:t>滞在時間(秒) = (最終フレーム番号 − 初登場フレーム番号) ÷ FPS</a:t>
            </a:r>
          </a:p>
        </p:txBody>
      </p:sp>
      <p:sp>
        <p:nvSpPr>
          <p:cNvPr id="10" name="TextBox 9"/>
          <p:cNvSpPr txBox="1"/>
          <p:nvPr/>
        </p:nvSpPr>
        <p:spPr>
          <a:xfrm>
            <a:off x="640080" y="3017520"/>
            <a:ext cx="5120640" cy="1645920"/>
          </a:xfrm>
          <a:prstGeom prst="rect">
            <a:avLst/>
          </a:prstGeom>
          <a:noFill/>
        </p:spPr>
        <p:txBody>
          <a:bodyPr wrap="square">
            <a:spAutoFit/>
          </a:bodyPr>
          <a:lstStyle/>
          <a:p>
            <a:pPr>
              <a:spcAft>
                <a:spcPts val="1000"/>
              </a:spcAft>
            </a:pPr>
            <a:r>
              <a:rPr sz="1500">
                <a:solidFill>
                  <a:srgbClr val="2C333A"/>
                </a:solidFill>
                <a:latin typeface="Yu Gothic"/>
              </a:rPr>
              <a:t>・各IDが画角内に初めて／最後に登場したフレームの差から算出</a:t>
            </a:r>
          </a:p>
        </p:txBody>
      </p:sp>
      <p:sp>
        <p:nvSpPr>
          <p:cNvPr id="11" name="TextBox 10"/>
          <p:cNvSpPr txBox="1"/>
          <p:nvPr/>
        </p:nvSpPr>
        <p:spPr>
          <a:xfrm>
            <a:off x="6217920" y="1371600"/>
            <a:ext cx="5303520" cy="457200"/>
          </a:xfrm>
          <a:prstGeom prst="rect">
            <a:avLst/>
          </a:prstGeom>
          <a:noFill/>
        </p:spPr>
        <p:txBody>
          <a:bodyPr wrap="square">
            <a:spAutoFit/>
          </a:bodyPr>
          <a:lstStyle/>
          <a:p>
            <a:pPr algn="l"/>
            <a:r>
              <a:rPr sz="1800" b="1">
                <a:solidFill>
                  <a:srgbClr val="1F3A5F"/>
                </a:solidFill>
                <a:latin typeface="Yu Gothic"/>
              </a:rPr>
              <a:t>顔向き推定（MediaPipe FaceMesh）</a:t>
            </a:r>
          </a:p>
        </p:txBody>
      </p:sp>
      <p:sp>
        <p:nvSpPr>
          <p:cNvPr id="12" name="TextBox 11"/>
          <p:cNvSpPr txBox="1"/>
          <p:nvPr/>
        </p:nvSpPr>
        <p:spPr>
          <a:xfrm>
            <a:off x="6217920" y="1920240"/>
            <a:ext cx="5303520" cy="2743200"/>
          </a:xfrm>
          <a:prstGeom prst="rect">
            <a:avLst/>
          </a:prstGeom>
          <a:noFill/>
        </p:spPr>
        <p:txBody>
          <a:bodyPr wrap="square">
            <a:spAutoFit/>
          </a:bodyPr>
          <a:lstStyle/>
          <a:p>
            <a:pPr>
              <a:spcAft>
                <a:spcPts val="1000"/>
              </a:spcAft>
            </a:pPr>
            <a:r>
              <a:rPr sz="1500">
                <a:solidFill>
                  <a:srgbClr val="2C333A"/>
                </a:solidFill>
                <a:latin typeface="Yu Gothic"/>
              </a:rPr>
              <a:t>・顔の3次元ランドマークを取得し、Yaw角（左右回転角）を推定</a:t>
            </a:r>
          </a:p>
          <a:p>
            <a:pPr>
              <a:spcAft>
                <a:spcPts val="1000"/>
              </a:spcAft>
            </a:pPr>
            <a:r>
              <a:rPr sz="1500">
                <a:solidFill>
                  <a:srgbClr val="2C333A"/>
                </a:solidFill>
                <a:latin typeface="Yu Gothic"/>
              </a:rPr>
              <a:t>・広告方向に対し閾値以内なら「広告を向いている」と判定</a:t>
            </a:r>
          </a:p>
          <a:p>
            <a:pPr>
              <a:spcAft>
                <a:spcPts val="1000"/>
              </a:spcAft>
            </a:pPr>
            <a:r>
              <a:rPr sz="1500">
                <a:solidFill>
                  <a:srgbClr val="2C333A"/>
                </a:solidFill>
                <a:latin typeface="Yu Gothic"/>
              </a:rPr>
              <a:t>・その継続時間（顔向き時間）を計測</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601200" cy="731520"/>
          </a:xfrm>
          <a:prstGeom prst="rect">
            <a:avLst/>
          </a:prstGeom>
          <a:noFill/>
        </p:spPr>
        <p:txBody>
          <a:bodyPr wrap="square" anchor="ctr">
            <a:spAutoFit/>
          </a:bodyPr>
          <a:lstStyle/>
          <a:p>
            <a:pPr algn="l"/>
            <a:r>
              <a:rPr sz="2600" b="1">
                <a:solidFill>
                  <a:srgbClr val="FFFFFF"/>
                </a:solidFill>
                <a:latin typeface="Yu Gothic"/>
              </a:rPr>
              <a:t>結果（1） 人物検出・追跡</a:t>
            </a:r>
          </a:p>
        </p:txBody>
      </p:sp>
      <p:sp>
        <p:nvSpPr>
          <p:cNvPr id="5" name="TextBox 4"/>
          <p:cNvSpPr txBox="1"/>
          <p:nvPr/>
        </p:nvSpPr>
        <p:spPr>
          <a:xfrm>
            <a:off x="9692640" y="137160"/>
            <a:ext cx="2194560" cy="320040"/>
          </a:xfrm>
          <a:prstGeom prst="rect">
            <a:avLst/>
          </a:prstGeom>
          <a:noFill/>
        </p:spPr>
        <p:txBody>
          <a:bodyPr wrap="square">
            <a:spAutoFit/>
          </a:bodyPr>
          <a:lstStyle/>
          <a:p>
            <a:pPr algn="r"/>
            <a:r>
              <a:rPr sz="1100" b="0">
                <a:solidFill>
                  <a:srgbClr val="BFD3E6"/>
                </a:solidFill>
                <a:latin typeface="Yu Gothic"/>
              </a:rPr>
              <a:t>5. 結果</a:t>
            </a:r>
          </a:p>
        </p:txBody>
      </p:sp>
      <p:sp>
        <p:nvSpPr>
          <p:cNvPr id="6" name="TextBox 5"/>
          <p:cNvSpPr txBox="1"/>
          <p:nvPr/>
        </p:nvSpPr>
        <p:spPr>
          <a:xfrm>
            <a:off x="9692640" y="502920"/>
            <a:ext cx="2194560" cy="365760"/>
          </a:xfrm>
          <a:prstGeom prst="rect">
            <a:avLst/>
          </a:prstGeom>
          <a:noFill/>
        </p:spPr>
        <p:txBody>
          <a:bodyPr wrap="square">
            <a:spAutoFit/>
          </a:bodyPr>
          <a:lstStyle/>
          <a:p>
            <a:pPr algn="r"/>
            <a:r>
              <a:rPr sz="1300" b="0">
                <a:solidFill>
                  <a:srgbClr val="BFD3E6"/>
                </a:solidFill>
                <a:latin typeface="Yu Gothic"/>
              </a:rPr>
              <a:t>NO.13</a:t>
            </a:r>
          </a:p>
        </p:txBody>
      </p:sp>
      <p:sp>
        <p:nvSpPr>
          <p:cNvPr id="7" name="TextBox 6"/>
          <p:cNvSpPr txBox="1"/>
          <p:nvPr/>
        </p:nvSpPr>
        <p:spPr>
          <a:xfrm>
            <a:off x="502920" y="6510528"/>
            <a:ext cx="7315200" cy="274320"/>
          </a:xfrm>
          <a:prstGeom prst="rect">
            <a:avLst/>
          </a:prstGeom>
          <a:noFill/>
        </p:spPr>
        <p:txBody>
          <a:bodyPr wrap="square">
            <a:spAutoFit/>
          </a:bodyPr>
          <a:lstStyle/>
          <a:p>
            <a:pPr algn="l"/>
            <a:r>
              <a:rPr sz="900" b="0">
                <a:solidFill>
                  <a:srgbClr val="6B7680"/>
                </a:solidFill>
                <a:latin typeface="Yu Gothic"/>
              </a:rPr>
              <a:t>画像特徴量を用いた店頭広告に対する通行人関心度推定手法の提案</a:t>
            </a:r>
          </a:p>
        </p:txBody>
      </p:sp>
      <p:sp>
        <p:nvSpPr>
          <p:cNvPr id="8" name="TextBox 7"/>
          <p:cNvSpPr txBox="1"/>
          <p:nvPr/>
        </p:nvSpPr>
        <p:spPr>
          <a:xfrm>
            <a:off x="640080" y="1554480"/>
            <a:ext cx="10881360" cy="1828800"/>
          </a:xfrm>
          <a:prstGeom prst="rect">
            <a:avLst/>
          </a:prstGeom>
          <a:noFill/>
        </p:spPr>
        <p:txBody>
          <a:bodyPr wrap="square">
            <a:spAutoFit/>
          </a:bodyPr>
          <a:lstStyle/>
          <a:p>
            <a:pPr>
              <a:spcAft>
                <a:spcPts val="1000"/>
              </a:spcAft>
            </a:pPr>
            <a:r>
              <a:rPr sz="2000">
                <a:solidFill>
                  <a:srgbClr val="2C333A"/>
                </a:solidFill>
                <a:latin typeface="Yu Gothic"/>
              </a:rPr>
              <a:t>・3名全員のID付き追跡に成功</a:t>
            </a:r>
          </a:p>
          <a:p>
            <a:pPr>
              <a:spcAft>
                <a:spcPts val="1000"/>
              </a:spcAft>
            </a:pPr>
            <a:r>
              <a:rPr sz="2000">
                <a:solidFill>
                  <a:srgbClr val="2C333A"/>
                </a:solidFill>
                <a:latin typeface="Yu Gothic"/>
              </a:rPr>
              <a:t>・各人物が画角内に登場してから退場するまで、一貫したIDが維持された</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601200" cy="731520"/>
          </a:xfrm>
          <a:prstGeom prst="rect">
            <a:avLst/>
          </a:prstGeom>
          <a:noFill/>
        </p:spPr>
        <p:txBody>
          <a:bodyPr wrap="square" anchor="ctr">
            <a:spAutoFit/>
          </a:bodyPr>
          <a:lstStyle/>
          <a:p>
            <a:pPr algn="l"/>
            <a:r>
              <a:rPr sz="2600" b="1">
                <a:solidFill>
                  <a:srgbClr val="FFFFFF"/>
                </a:solidFill>
                <a:latin typeface="Yu Gothic"/>
              </a:rPr>
              <a:t>結果（2） 計測結果</a:t>
            </a:r>
          </a:p>
        </p:txBody>
      </p:sp>
      <p:sp>
        <p:nvSpPr>
          <p:cNvPr id="5" name="TextBox 4"/>
          <p:cNvSpPr txBox="1"/>
          <p:nvPr/>
        </p:nvSpPr>
        <p:spPr>
          <a:xfrm>
            <a:off x="9692640" y="137160"/>
            <a:ext cx="2194560" cy="320040"/>
          </a:xfrm>
          <a:prstGeom prst="rect">
            <a:avLst/>
          </a:prstGeom>
          <a:noFill/>
        </p:spPr>
        <p:txBody>
          <a:bodyPr wrap="square">
            <a:spAutoFit/>
          </a:bodyPr>
          <a:lstStyle/>
          <a:p>
            <a:pPr algn="r"/>
            <a:r>
              <a:rPr sz="1100" b="0">
                <a:solidFill>
                  <a:srgbClr val="BFD3E6"/>
                </a:solidFill>
                <a:latin typeface="Yu Gothic"/>
              </a:rPr>
              <a:t>5. 結果</a:t>
            </a:r>
          </a:p>
        </p:txBody>
      </p:sp>
      <p:sp>
        <p:nvSpPr>
          <p:cNvPr id="6" name="TextBox 5"/>
          <p:cNvSpPr txBox="1"/>
          <p:nvPr/>
        </p:nvSpPr>
        <p:spPr>
          <a:xfrm>
            <a:off x="9692640" y="502920"/>
            <a:ext cx="2194560" cy="365760"/>
          </a:xfrm>
          <a:prstGeom prst="rect">
            <a:avLst/>
          </a:prstGeom>
          <a:noFill/>
        </p:spPr>
        <p:txBody>
          <a:bodyPr wrap="square">
            <a:spAutoFit/>
          </a:bodyPr>
          <a:lstStyle/>
          <a:p>
            <a:pPr algn="r"/>
            <a:r>
              <a:rPr sz="1300" b="0">
                <a:solidFill>
                  <a:srgbClr val="BFD3E6"/>
                </a:solidFill>
                <a:latin typeface="Yu Gothic"/>
              </a:rPr>
              <a:t>NO.14</a:t>
            </a:r>
          </a:p>
        </p:txBody>
      </p:sp>
      <p:sp>
        <p:nvSpPr>
          <p:cNvPr id="7" name="TextBox 6"/>
          <p:cNvSpPr txBox="1"/>
          <p:nvPr/>
        </p:nvSpPr>
        <p:spPr>
          <a:xfrm>
            <a:off x="502920" y="6510528"/>
            <a:ext cx="7315200" cy="274320"/>
          </a:xfrm>
          <a:prstGeom prst="rect">
            <a:avLst/>
          </a:prstGeom>
          <a:noFill/>
        </p:spPr>
        <p:txBody>
          <a:bodyPr wrap="square">
            <a:spAutoFit/>
          </a:bodyPr>
          <a:lstStyle/>
          <a:p>
            <a:pPr algn="l"/>
            <a:r>
              <a:rPr sz="900" b="0">
                <a:solidFill>
                  <a:srgbClr val="6B7680"/>
                </a:solidFill>
                <a:latin typeface="Yu Gothic"/>
              </a:rPr>
              <a:t>画像特徴量を用いた店頭広告に対する通行人関心度推定手法の提案</a:t>
            </a:r>
          </a:p>
        </p:txBody>
      </p:sp>
      <p:graphicFrame>
        <p:nvGraphicFramePr>
          <p:cNvPr id="8" name="Table 7"/>
          <p:cNvGraphicFramePr>
            <a:graphicFrameLocks noGrp="1"/>
          </p:cNvGraphicFramePr>
          <p:nvPr/>
        </p:nvGraphicFramePr>
        <p:xfrm>
          <a:off x="1463040" y="1554480"/>
          <a:ext cx="9235440" cy="2377440"/>
        </p:xfrm>
        <a:graphic>
          <a:graphicData uri="http://schemas.openxmlformats.org/drawingml/2006/table">
            <a:tbl>
              <a:tblPr firstRow="1" bandRow="1">
                <a:tableStyleId>{5C22544A-7EE6-4342-B048-85BDC9FD1C3A}</a:tableStyleId>
              </a:tblPr>
              <a:tblGrid>
                <a:gridCol w="1188720"/>
                <a:gridCol w="2651760"/>
                <a:gridCol w="2651760"/>
                <a:gridCol w="2743200"/>
              </a:tblGrid>
              <a:tr h="594360">
                <a:tc>
                  <a:txBody>
                    <a:bodyPr/>
                    <a:lstStyle/>
                    <a:p>
                      <a:pPr algn="ctr"/>
                      <a:r>
                        <a:rPr sz="1600" b="1">
                          <a:solidFill>
                            <a:srgbClr val="FFFFFF"/>
                          </a:solidFill>
                          <a:latin typeface="Yu Gothic"/>
                        </a:rPr>
                        <a:t>ID</a:t>
                      </a:r>
                    </a:p>
                  </a:txBody>
                  <a:tcPr anchor="ctr">
                    <a:solidFill>
                      <a:srgbClr val="1F3A5F"/>
                    </a:solidFill>
                  </a:tcPr>
                </a:tc>
                <a:tc>
                  <a:txBody>
                    <a:bodyPr/>
                    <a:lstStyle/>
                    <a:p>
                      <a:pPr algn="ctr"/>
                      <a:r>
                        <a:rPr sz="1600" b="1">
                          <a:solidFill>
                            <a:srgbClr val="FFFFFF"/>
                          </a:solidFill>
                          <a:latin typeface="Yu Gothic"/>
                        </a:rPr>
                        <a:t>滞在時間（秒）</a:t>
                      </a:r>
                    </a:p>
                  </a:txBody>
                  <a:tcPr anchor="ctr">
                    <a:solidFill>
                      <a:srgbClr val="1F3A5F"/>
                    </a:solidFill>
                  </a:tcPr>
                </a:tc>
                <a:tc>
                  <a:txBody>
                    <a:bodyPr/>
                    <a:lstStyle/>
                    <a:p>
                      <a:pPr algn="ctr"/>
                      <a:r>
                        <a:rPr sz="1600" b="1">
                          <a:solidFill>
                            <a:srgbClr val="FFFFFF"/>
                          </a:solidFill>
                          <a:latin typeface="Yu Gothic"/>
                        </a:rPr>
                        <a:t>顔向き時間（秒）</a:t>
                      </a:r>
                    </a:p>
                  </a:txBody>
                  <a:tcPr anchor="ctr">
                    <a:solidFill>
                      <a:srgbClr val="1F3A5F"/>
                    </a:solidFill>
                  </a:tcPr>
                </a:tc>
                <a:tc>
                  <a:txBody>
                    <a:bodyPr/>
                    <a:lstStyle/>
                    <a:p>
                      <a:pPr algn="ctr"/>
                      <a:r>
                        <a:rPr sz="1600" b="1">
                          <a:solidFill>
                            <a:srgbClr val="FFFFFF"/>
                          </a:solidFill>
                          <a:latin typeface="Yu Gothic"/>
                        </a:rPr>
                        <a:t>顔向き率（%）</a:t>
                      </a:r>
                    </a:p>
                  </a:txBody>
                  <a:tcPr anchor="ctr">
                    <a:solidFill>
                      <a:srgbClr val="1F3A5F"/>
                    </a:solidFill>
                  </a:tcPr>
                </a:tc>
              </a:tr>
              <a:tr h="594360">
                <a:tc>
                  <a:txBody>
                    <a:bodyPr/>
                    <a:lstStyle/>
                    <a:p>
                      <a:pPr algn="ctr"/>
                      <a:r>
                        <a:rPr sz="1600">
                          <a:solidFill>
                            <a:srgbClr val="2C333A"/>
                          </a:solidFill>
                          <a:latin typeface="Yu Gothic"/>
                        </a:rPr>
                        <a:t>1</a:t>
                      </a:r>
                    </a:p>
                  </a:txBody>
                  <a:tcPr anchor="ctr">
                    <a:solidFill>
                      <a:srgbClr val="FFFFFF"/>
                    </a:solidFill>
                  </a:tcPr>
                </a:tc>
                <a:tc>
                  <a:txBody>
                    <a:bodyPr/>
                    <a:lstStyle/>
                    <a:p>
                      <a:pPr algn="ctr"/>
                      <a:r>
                        <a:rPr sz="1600">
                          <a:solidFill>
                            <a:srgbClr val="2C333A"/>
                          </a:solidFill>
                          <a:latin typeface="Yu Gothic"/>
                        </a:rPr>
                        <a:t>（計測値）</a:t>
                      </a:r>
                    </a:p>
                  </a:txBody>
                  <a:tcPr anchor="ctr">
                    <a:solidFill>
                      <a:srgbClr val="FFFFFF"/>
                    </a:solidFill>
                  </a:tcPr>
                </a:tc>
                <a:tc>
                  <a:txBody>
                    <a:bodyPr/>
                    <a:lstStyle/>
                    <a:p>
                      <a:pPr algn="ctr"/>
                      <a:r>
                        <a:rPr sz="1600">
                          <a:solidFill>
                            <a:srgbClr val="2C333A"/>
                          </a:solidFill>
                          <a:latin typeface="Yu Gothic"/>
                        </a:rPr>
                        <a:t>（計測値）</a:t>
                      </a:r>
                    </a:p>
                  </a:txBody>
                  <a:tcPr anchor="ctr">
                    <a:solidFill>
                      <a:srgbClr val="FFFFFF"/>
                    </a:solidFill>
                  </a:tcPr>
                </a:tc>
                <a:tc>
                  <a:txBody>
                    <a:bodyPr/>
                    <a:lstStyle/>
                    <a:p>
                      <a:pPr algn="ctr"/>
                      <a:r>
                        <a:rPr sz="1600">
                          <a:solidFill>
                            <a:srgbClr val="2C333A"/>
                          </a:solidFill>
                          <a:latin typeface="Yu Gothic"/>
                        </a:rPr>
                        <a:t>（計測値）</a:t>
                      </a:r>
                    </a:p>
                  </a:txBody>
                  <a:tcPr anchor="ctr">
                    <a:solidFill>
                      <a:srgbClr val="FFFFFF"/>
                    </a:solidFill>
                  </a:tcPr>
                </a:tc>
              </a:tr>
              <a:tr h="594360">
                <a:tc>
                  <a:txBody>
                    <a:bodyPr/>
                    <a:lstStyle/>
                    <a:p>
                      <a:pPr algn="ctr"/>
                      <a:r>
                        <a:rPr sz="1600">
                          <a:solidFill>
                            <a:srgbClr val="2C333A"/>
                          </a:solidFill>
                          <a:latin typeface="Yu Gothic"/>
                        </a:rPr>
                        <a:t>2</a:t>
                      </a:r>
                    </a:p>
                  </a:txBody>
                  <a:tcPr anchor="ctr">
                    <a:solidFill>
                      <a:srgbClr val="F4F7FA"/>
                    </a:solidFill>
                  </a:tcPr>
                </a:tc>
                <a:tc>
                  <a:txBody>
                    <a:bodyPr/>
                    <a:lstStyle/>
                    <a:p>
                      <a:pPr algn="ctr"/>
                      <a:r>
                        <a:rPr sz="1600">
                          <a:solidFill>
                            <a:srgbClr val="2C333A"/>
                          </a:solidFill>
                          <a:latin typeface="Yu Gothic"/>
                        </a:rPr>
                        <a:t>（計測値）</a:t>
                      </a:r>
                    </a:p>
                  </a:txBody>
                  <a:tcPr anchor="ctr">
                    <a:solidFill>
                      <a:srgbClr val="F4F7FA"/>
                    </a:solidFill>
                  </a:tcPr>
                </a:tc>
                <a:tc>
                  <a:txBody>
                    <a:bodyPr/>
                    <a:lstStyle/>
                    <a:p>
                      <a:pPr algn="ctr"/>
                      <a:r>
                        <a:rPr sz="1600">
                          <a:solidFill>
                            <a:srgbClr val="2C333A"/>
                          </a:solidFill>
                          <a:latin typeface="Yu Gothic"/>
                        </a:rPr>
                        <a:t>（計測値）</a:t>
                      </a:r>
                    </a:p>
                  </a:txBody>
                  <a:tcPr anchor="ctr">
                    <a:solidFill>
                      <a:srgbClr val="F4F7FA"/>
                    </a:solidFill>
                  </a:tcPr>
                </a:tc>
                <a:tc>
                  <a:txBody>
                    <a:bodyPr/>
                    <a:lstStyle/>
                    <a:p>
                      <a:pPr algn="ctr"/>
                      <a:r>
                        <a:rPr sz="1600">
                          <a:solidFill>
                            <a:srgbClr val="2C333A"/>
                          </a:solidFill>
                          <a:latin typeface="Yu Gothic"/>
                        </a:rPr>
                        <a:t>（計測値）</a:t>
                      </a:r>
                    </a:p>
                  </a:txBody>
                  <a:tcPr anchor="ctr">
                    <a:solidFill>
                      <a:srgbClr val="F4F7FA"/>
                    </a:solidFill>
                  </a:tcPr>
                </a:tc>
              </a:tr>
              <a:tr h="594360">
                <a:tc>
                  <a:txBody>
                    <a:bodyPr/>
                    <a:lstStyle/>
                    <a:p>
                      <a:pPr algn="ctr"/>
                      <a:r>
                        <a:rPr sz="1600">
                          <a:solidFill>
                            <a:srgbClr val="2C333A"/>
                          </a:solidFill>
                          <a:latin typeface="Yu Gothic"/>
                        </a:rPr>
                        <a:t>3</a:t>
                      </a:r>
                    </a:p>
                  </a:txBody>
                  <a:tcPr anchor="ctr">
                    <a:solidFill>
                      <a:srgbClr val="FFFFFF"/>
                    </a:solidFill>
                  </a:tcPr>
                </a:tc>
                <a:tc>
                  <a:txBody>
                    <a:bodyPr/>
                    <a:lstStyle/>
                    <a:p>
                      <a:pPr algn="ctr"/>
                      <a:r>
                        <a:rPr sz="1600">
                          <a:solidFill>
                            <a:srgbClr val="2C333A"/>
                          </a:solidFill>
                          <a:latin typeface="Yu Gothic"/>
                        </a:rPr>
                        <a:t>（計測値）</a:t>
                      </a:r>
                    </a:p>
                  </a:txBody>
                  <a:tcPr anchor="ctr">
                    <a:solidFill>
                      <a:srgbClr val="FFFFFF"/>
                    </a:solidFill>
                  </a:tcPr>
                </a:tc>
                <a:tc>
                  <a:txBody>
                    <a:bodyPr/>
                    <a:lstStyle/>
                    <a:p>
                      <a:pPr algn="ctr"/>
                      <a:r>
                        <a:rPr sz="1600">
                          <a:solidFill>
                            <a:srgbClr val="2C333A"/>
                          </a:solidFill>
                          <a:latin typeface="Yu Gothic"/>
                        </a:rPr>
                        <a:t>（計測値）</a:t>
                      </a:r>
                    </a:p>
                  </a:txBody>
                  <a:tcPr anchor="ctr">
                    <a:solidFill>
                      <a:srgbClr val="FFFFFF"/>
                    </a:solidFill>
                  </a:tcPr>
                </a:tc>
                <a:tc>
                  <a:txBody>
                    <a:bodyPr/>
                    <a:lstStyle/>
                    <a:p>
                      <a:pPr algn="ctr"/>
                      <a:r>
                        <a:rPr sz="1600">
                          <a:solidFill>
                            <a:srgbClr val="2C333A"/>
                          </a:solidFill>
                          <a:latin typeface="Yu Gothic"/>
                        </a:rPr>
                        <a:t>（計測値）</a:t>
                      </a:r>
                    </a:p>
                  </a:txBody>
                  <a:tcPr anchor="ctr">
                    <a:solidFill>
                      <a:srgbClr val="FFFFFF"/>
                    </a:solidFill>
                  </a:tcPr>
                </a:tc>
              </a:tr>
            </a:tbl>
          </a:graphicData>
        </a:graphic>
      </p:graphicFrame>
      <p:sp>
        <p:nvSpPr>
          <p:cNvPr id="9" name="TextBox 8"/>
          <p:cNvSpPr txBox="1"/>
          <p:nvPr/>
        </p:nvSpPr>
        <p:spPr>
          <a:xfrm>
            <a:off x="1463040" y="4206240"/>
            <a:ext cx="9235440" cy="365760"/>
          </a:xfrm>
          <a:prstGeom prst="rect">
            <a:avLst/>
          </a:prstGeom>
          <a:noFill/>
        </p:spPr>
        <p:txBody>
          <a:bodyPr wrap="square">
            <a:spAutoFit/>
          </a:bodyPr>
          <a:lstStyle/>
          <a:p>
            <a:pPr algn="l"/>
            <a:r>
              <a:rPr sz="1300" b="0">
                <a:solidFill>
                  <a:srgbClr val="6B7680"/>
                </a:solidFill>
                <a:latin typeface="Yu Gothic"/>
              </a:rPr>
              <a:t>※ 発表当日までに実測値を反映</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601200" cy="731520"/>
          </a:xfrm>
          <a:prstGeom prst="rect">
            <a:avLst/>
          </a:prstGeom>
          <a:noFill/>
        </p:spPr>
        <p:txBody>
          <a:bodyPr wrap="square" anchor="ctr">
            <a:spAutoFit/>
          </a:bodyPr>
          <a:lstStyle/>
          <a:p>
            <a:pPr algn="l"/>
            <a:r>
              <a:rPr sz="2600" b="1">
                <a:solidFill>
                  <a:srgbClr val="FFFFFF"/>
                </a:solidFill>
                <a:latin typeface="Yu Gothic"/>
              </a:rPr>
              <a:t>結果（3） 考察</a:t>
            </a:r>
          </a:p>
        </p:txBody>
      </p:sp>
      <p:sp>
        <p:nvSpPr>
          <p:cNvPr id="5" name="TextBox 4"/>
          <p:cNvSpPr txBox="1"/>
          <p:nvPr/>
        </p:nvSpPr>
        <p:spPr>
          <a:xfrm>
            <a:off x="9692640" y="137160"/>
            <a:ext cx="2194560" cy="320040"/>
          </a:xfrm>
          <a:prstGeom prst="rect">
            <a:avLst/>
          </a:prstGeom>
          <a:noFill/>
        </p:spPr>
        <p:txBody>
          <a:bodyPr wrap="square">
            <a:spAutoFit/>
          </a:bodyPr>
          <a:lstStyle/>
          <a:p>
            <a:pPr algn="r"/>
            <a:r>
              <a:rPr sz="1100" b="0">
                <a:solidFill>
                  <a:srgbClr val="BFD3E6"/>
                </a:solidFill>
                <a:latin typeface="Yu Gothic"/>
              </a:rPr>
              <a:t>5. 結果</a:t>
            </a:r>
          </a:p>
        </p:txBody>
      </p:sp>
      <p:sp>
        <p:nvSpPr>
          <p:cNvPr id="6" name="TextBox 5"/>
          <p:cNvSpPr txBox="1"/>
          <p:nvPr/>
        </p:nvSpPr>
        <p:spPr>
          <a:xfrm>
            <a:off x="9692640" y="502920"/>
            <a:ext cx="2194560" cy="365760"/>
          </a:xfrm>
          <a:prstGeom prst="rect">
            <a:avLst/>
          </a:prstGeom>
          <a:noFill/>
        </p:spPr>
        <p:txBody>
          <a:bodyPr wrap="square">
            <a:spAutoFit/>
          </a:bodyPr>
          <a:lstStyle/>
          <a:p>
            <a:pPr algn="r"/>
            <a:r>
              <a:rPr sz="1300" b="0">
                <a:solidFill>
                  <a:srgbClr val="BFD3E6"/>
                </a:solidFill>
                <a:latin typeface="Yu Gothic"/>
              </a:rPr>
              <a:t>NO.15</a:t>
            </a:r>
          </a:p>
        </p:txBody>
      </p:sp>
      <p:sp>
        <p:nvSpPr>
          <p:cNvPr id="7" name="TextBox 6"/>
          <p:cNvSpPr txBox="1"/>
          <p:nvPr/>
        </p:nvSpPr>
        <p:spPr>
          <a:xfrm>
            <a:off x="502920" y="6510528"/>
            <a:ext cx="7315200" cy="274320"/>
          </a:xfrm>
          <a:prstGeom prst="rect">
            <a:avLst/>
          </a:prstGeom>
          <a:noFill/>
        </p:spPr>
        <p:txBody>
          <a:bodyPr wrap="square">
            <a:spAutoFit/>
          </a:bodyPr>
          <a:lstStyle/>
          <a:p>
            <a:pPr algn="l"/>
            <a:r>
              <a:rPr sz="900" b="0">
                <a:solidFill>
                  <a:srgbClr val="6B7680"/>
                </a:solidFill>
                <a:latin typeface="Yu Gothic"/>
              </a:rPr>
              <a:t>画像特徴量を用いた店頭広告に対する通行人関心度推定手法の提案</a:t>
            </a:r>
          </a:p>
        </p:txBody>
      </p:sp>
      <p:sp>
        <p:nvSpPr>
          <p:cNvPr id="8" name="TextBox 7"/>
          <p:cNvSpPr txBox="1"/>
          <p:nvPr/>
        </p:nvSpPr>
        <p:spPr>
          <a:xfrm>
            <a:off x="640080" y="1554480"/>
            <a:ext cx="10881360" cy="2194560"/>
          </a:xfrm>
          <a:prstGeom prst="rect">
            <a:avLst/>
          </a:prstGeom>
          <a:noFill/>
        </p:spPr>
        <p:txBody>
          <a:bodyPr wrap="square">
            <a:spAutoFit/>
          </a:bodyPr>
          <a:lstStyle/>
          <a:p>
            <a:pPr>
              <a:spcAft>
                <a:spcPts val="1000"/>
              </a:spcAft>
            </a:pPr>
            <a:r>
              <a:rPr sz="1900">
                <a:solidFill>
                  <a:srgbClr val="2C333A"/>
                </a:solidFill>
                <a:latin typeface="Yu Gothic"/>
              </a:rPr>
              <a:t>・滞在時間・顔向き時間の計測により、通行人ごとに関心の度合いに差があることを確認</a:t>
            </a:r>
          </a:p>
          <a:p>
            <a:pPr>
              <a:spcAft>
                <a:spcPts val="1000"/>
              </a:spcAft>
            </a:pPr>
            <a:r>
              <a:rPr sz="1900">
                <a:solidFill>
                  <a:srgbClr val="2C333A"/>
                </a:solidFill>
                <a:latin typeface="Yu Gothic"/>
              </a:rPr>
              <a:t>・顔向き率が高い人物ほど広告への関心が高いと推測される</a:t>
            </a:r>
          </a:p>
          <a:p>
            <a:pPr>
              <a:spcAft>
                <a:spcPts val="1000"/>
              </a:spcAft>
            </a:pPr>
            <a:r>
              <a:rPr sz="1900">
                <a:solidFill>
                  <a:srgbClr val="2C333A"/>
                </a:solidFill>
                <a:latin typeface="Yu Gothic"/>
              </a:rPr>
              <a:t>・顔向き率は Interest Score の基礎指標として有効であることが示唆された</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601200" cy="731520"/>
          </a:xfrm>
          <a:prstGeom prst="rect">
            <a:avLst/>
          </a:prstGeom>
          <a:noFill/>
        </p:spPr>
        <p:txBody>
          <a:bodyPr wrap="square" anchor="ctr">
            <a:spAutoFit/>
          </a:bodyPr>
          <a:lstStyle/>
          <a:p>
            <a:pPr algn="l"/>
            <a:r>
              <a:rPr sz="2600" b="1">
                <a:solidFill>
                  <a:srgbClr val="FFFFFF"/>
                </a:solidFill>
                <a:latin typeface="Yu Gothic"/>
              </a:rPr>
              <a:t>今後の予定</a:t>
            </a:r>
          </a:p>
        </p:txBody>
      </p:sp>
      <p:sp>
        <p:nvSpPr>
          <p:cNvPr id="5" name="TextBox 4"/>
          <p:cNvSpPr txBox="1"/>
          <p:nvPr/>
        </p:nvSpPr>
        <p:spPr>
          <a:xfrm>
            <a:off x="9692640" y="137160"/>
            <a:ext cx="2194560" cy="320040"/>
          </a:xfrm>
          <a:prstGeom prst="rect">
            <a:avLst/>
          </a:prstGeom>
          <a:noFill/>
        </p:spPr>
        <p:txBody>
          <a:bodyPr wrap="square">
            <a:spAutoFit/>
          </a:bodyPr>
          <a:lstStyle/>
          <a:p>
            <a:pPr algn="r"/>
            <a:r>
              <a:rPr sz="1100" b="0">
                <a:solidFill>
                  <a:srgbClr val="BFD3E6"/>
                </a:solidFill>
                <a:latin typeface="Yu Gothic"/>
              </a:rPr>
              <a:t>6. 今後</a:t>
            </a:r>
          </a:p>
        </p:txBody>
      </p:sp>
      <p:sp>
        <p:nvSpPr>
          <p:cNvPr id="6" name="TextBox 5"/>
          <p:cNvSpPr txBox="1"/>
          <p:nvPr/>
        </p:nvSpPr>
        <p:spPr>
          <a:xfrm>
            <a:off x="9692640" y="502920"/>
            <a:ext cx="2194560" cy="365760"/>
          </a:xfrm>
          <a:prstGeom prst="rect">
            <a:avLst/>
          </a:prstGeom>
          <a:noFill/>
        </p:spPr>
        <p:txBody>
          <a:bodyPr wrap="square">
            <a:spAutoFit/>
          </a:bodyPr>
          <a:lstStyle/>
          <a:p>
            <a:pPr algn="r"/>
            <a:r>
              <a:rPr sz="1300" b="0">
                <a:solidFill>
                  <a:srgbClr val="BFD3E6"/>
                </a:solidFill>
                <a:latin typeface="Yu Gothic"/>
              </a:rPr>
              <a:t>NO.16</a:t>
            </a:r>
          </a:p>
        </p:txBody>
      </p:sp>
      <p:sp>
        <p:nvSpPr>
          <p:cNvPr id="7" name="TextBox 6"/>
          <p:cNvSpPr txBox="1"/>
          <p:nvPr/>
        </p:nvSpPr>
        <p:spPr>
          <a:xfrm>
            <a:off x="502920" y="6510528"/>
            <a:ext cx="7315200" cy="274320"/>
          </a:xfrm>
          <a:prstGeom prst="rect">
            <a:avLst/>
          </a:prstGeom>
          <a:noFill/>
        </p:spPr>
        <p:txBody>
          <a:bodyPr wrap="square">
            <a:spAutoFit/>
          </a:bodyPr>
          <a:lstStyle/>
          <a:p>
            <a:pPr algn="l"/>
            <a:r>
              <a:rPr sz="900" b="0">
                <a:solidFill>
                  <a:srgbClr val="6B7680"/>
                </a:solidFill>
                <a:latin typeface="Yu Gothic"/>
              </a:rPr>
              <a:t>画像特徴量を用いた店頭広告に対する通行人関心度推定手法の提案</a:t>
            </a:r>
          </a:p>
        </p:txBody>
      </p:sp>
      <p:sp>
        <p:nvSpPr>
          <p:cNvPr id="8" name="Oval 7"/>
          <p:cNvSpPr/>
          <p:nvPr/>
        </p:nvSpPr>
        <p:spPr>
          <a:xfrm>
            <a:off x="914400" y="1645920"/>
            <a:ext cx="502920" cy="502920"/>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Yu Gothic"/>
              </a:rPr>
              <a:t>1</a:t>
            </a:r>
          </a:p>
        </p:txBody>
      </p:sp>
      <p:sp>
        <p:nvSpPr>
          <p:cNvPr id="9" name="TextBox 8"/>
          <p:cNvSpPr txBox="1"/>
          <p:nvPr/>
        </p:nvSpPr>
        <p:spPr>
          <a:xfrm>
            <a:off x="1737360" y="1645920"/>
            <a:ext cx="8961120" cy="502920"/>
          </a:xfrm>
          <a:prstGeom prst="rect">
            <a:avLst/>
          </a:prstGeom>
          <a:noFill/>
        </p:spPr>
        <p:txBody>
          <a:bodyPr wrap="square" anchor="ctr">
            <a:spAutoFit/>
          </a:bodyPr>
          <a:lstStyle/>
          <a:p>
            <a:pPr algn="l"/>
            <a:r>
              <a:rPr sz="1900" b="0">
                <a:solidFill>
                  <a:srgbClr val="2C333A"/>
                </a:solidFill>
                <a:latin typeface="Yu Gothic"/>
              </a:rPr>
              <a:t>体向き推定（姿勢推定モデルの導入）</a:t>
            </a:r>
          </a:p>
        </p:txBody>
      </p:sp>
      <p:sp>
        <p:nvSpPr>
          <p:cNvPr id="10" name="Oval 9"/>
          <p:cNvSpPr/>
          <p:nvPr/>
        </p:nvSpPr>
        <p:spPr>
          <a:xfrm>
            <a:off x="914400" y="2606040"/>
            <a:ext cx="502920" cy="502920"/>
          </a:xfrm>
          <a:prstGeom prst="ellipse">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Yu Gothic"/>
              </a:rPr>
              <a:t>2</a:t>
            </a:r>
          </a:p>
        </p:txBody>
      </p:sp>
      <p:sp>
        <p:nvSpPr>
          <p:cNvPr id="11" name="TextBox 10"/>
          <p:cNvSpPr txBox="1"/>
          <p:nvPr/>
        </p:nvSpPr>
        <p:spPr>
          <a:xfrm>
            <a:off x="1737360" y="2606040"/>
            <a:ext cx="8961120" cy="502920"/>
          </a:xfrm>
          <a:prstGeom prst="rect">
            <a:avLst/>
          </a:prstGeom>
          <a:noFill/>
        </p:spPr>
        <p:txBody>
          <a:bodyPr wrap="square" anchor="ctr">
            <a:spAutoFit/>
          </a:bodyPr>
          <a:lstStyle/>
          <a:p>
            <a:pPr algn="l"/>
            <a:r>
              <a:rPr sz="1900" b="0">
                <a:solidFill>
                  <a:srgbClr val="2C333A"/>
                </a:solidFill>
                <a:latin typeface="Yu Gothic"/>
              </a:rPr>
              <a:t>歩行速度の算出（追跡座標の変化量から算出）</a:t>
            </a:r>
          </a:p>
        </p:txBody>
      </p:sp>
      <p:sp>
        <p:nvSpPr>
          <p:cNvPr id="12" name="Oval 11"/>
          <p:cNvSpPr/>
          <p:nvPr/>
        </p:nvSpPr>
        <p:spPr>
          <a:xfrm>
            <a:off x="914400" y="3566160"/>
            <a:ext cx="502920" cy="502920"/>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Yu Gothic"/>
              </a:rPr>
              <a:t>3</a:t>
            </a:r>
          </a:p>
        </p:txBody>
      </p:sp>
      <p:sp>
        <p:nvSpPr>
          <p:cNvPr id="13" name="TextBox 12"/>
          <p:cNvSpPr txBox="1"/>
          <p:nvPr/>
        </p:nvSpPr>
        <p:spPr>
          <a:xfrm>
            <a:off x="1737360" y="3566160"/>
            <a:ext cx="8961120" cy="502920"/>
          </a:xfrm>
          <a:prstGeom prst="rect">
            <a:avLst/>
          </a:prstGeom>
          <a:noFill/>
        </p:spPr>
        <p:txBody>
          <a:bodyPr wrap="square" anchor="ctr">
            <a:spAutoFit/>
          </a:bodyPr>
          <a:lstStyle/>
          <a:p>
            <a:pPr algn="l"/>
            <a:r>
              <a:rPr sz="1900" b="0">
                <a:solidFill>
                  <a:srgbClr val="2C333A"/>
                </a:solidFill>
                <a:latin typeface="Yu Gothic"/>
              </a:rPr>
              <a:t>Interest Score 1.0 の設計（重みの手動設定）</a:t>
            </a:r>
          </a:p>
        </p:txBody>
      </p:sp>
      <p:sp>
        <p:nvSpPr>
          <p:cNvPr id="14" name="Oval 13"/>
          <p:cNvSpPr/>
          <p:nvPr/>
        </p:nvSpPr>
        <p:spPr>
          <a:xfrm>
            <a:off x="914400" y="4526280"/>
            <a:ext cx="502920" cy="502920"/>
          </a:xfrm>
          <a:prstGeom prst="ellipse">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Yu Gothic"/>
              </a:rPr>
              <a:t>4</a:t>
            </a:r>
          </a:p>
        </p:txBody>
      </p:sp>
      <p:sp>
        <p:nvSpPr>
          <p:cNvPr id="15" name="TextBox 14"/>
          <p:cNvSpPr txBox="1"/>
          <p:nvPr/>
        </p:nvSpPr>
        <p:spPr>
          <a:xfrm>
            <a:off x="1737360" y="4526280"/>
            <a:ext cx="8961120" cy="502920"/>
          </a:xfrm>
          <a:prstGeom prst="rect">
            <a:avLst/>
          </a:prstGeom>
          <a:noFill/>
        </p:spPr>
        <p:txBody>
          <a:bodyPr wrap="square" anchor="ctr">
            <a:spAutoFit/>
          </a:bodyPr>
          <a:lstStyle/>
          <a:p>
            <a:pPr algn="l"/>
            <a:r>
              <a:rPr sz="1900" b="0">
                <a:solidFill>
                  <a:srgbClr val="2C333A"/>
                </a:solidFill>
                <a:latin typeface="Yu Gothic"/>
              </a:rPr>
              <a:t>人間評価との比較（相関係数の算出）</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601200" cy="731520"/>
          </a:xfrm>
          <a:prstGeom prst="rect">
            <a:avLst/>
          </a:prstGeom>
          <a:noFill/>
        </p:spPr>
        <p:txBody>
          <a:bodyPr wrap="square" anchor="ctr">
            <a:spAutoFit/>
          </a:bodyPr>
          <a:lstStyle/>
          <a:p>
            <a:pPr algn="l"/>
            <a:r>
              <a:rPr sz="2600" b="1">
                <a:solidFill>
                  <a:srgbClr val="FFFFFF"/>
                </a:solidFill>
                <a:latin typeface="Yu Gothic"/>
              </a:rPr>
              <a:t>参考文献</a:t>
            </a:r>
          </a:p>
        </p:txBody>
      </p:sp>
      <p:sp>
        <p:nvSpPr>
          <p:cNvPr id="5" name="TextBox 4"/>
          <p:cNvSpPr txBox="1"/>
          <p:nvPr/>
        </p:nvSpPr>
        <p:spPr>
          <a:xfrm>
            <a:off x="9692640" y="137160"/>
            <a:ext cx="2194560" cy="320040"/>
          </a:xfrm>
          <a:prstGeom prst="rect">
            <a:avLst/>
          </a:prstGeom>
          <a:noFill/>
        </p:spPr>
        <p:txBody>
          <a:bodyPr wrap="square">
            <a:spAutoFit/>
          </a:bodyPr>
          <a:lstStyle/>
          <a:p>
            <a:pPr algn="r"/>
            <a:r>
              <a:rPr sz="1100" b="0">
                <a:solidFill>
                  <a:srgbClr val="BFD3E6"/>
                </a:solidFill>
                <a:latin typeface="Yu Gothic"/>
              </a:rPr>
              <a:t>参考文献</a:t>
            </a:r>
          </a:p>
        </p:txBody>
      </p:sp>
      <p:sp>
        <p:nvSpPr>
          <p:cNvPr id="6" name="TextBox 5"/>
          <p:cNvSpPr txBox="1"/>
          <p:nvPr/>
        </p:nvSpPr>
        <p:spPr>
          <a:xfrm>
            <a:off x="9692640" y="502920"/>
            <a:ext cx="2194560" cy="365760"/>
          </a:xfrm>
          <a:prstGeom prst="rect">
            <a:avLst/>
          </a:prstGeom>
          <a:noFill/>
        </p:spPr>
        <p:txBody>
          <a:bodyPr wrap="square">
            <a:spAutoFit/>
          </a:bodyPr>
          <a:lstStyle/>
          <a:p>
            <a:pPr algn="r"/>
            <a:r>
              <a:rPr sz="1300" b="0">
                <a:solidFill>
                  <a:srgbClr val="BFD3E6"/>
                </a:solidFill>
                <a:latin typeface="Yu Gothic"/>
              </a:rPr>
              <a:t>NO.17</a:t>
            </a:r>
          </a:p>
        </p:txBody>
      </p:sp>
      <p:sp>
        <p:nvSpPr>
          <p:cNvPr id="7" name="TextBox 6"/>
          <p:cNvSpPr txBox="1"/>
          <p:nvPr/>
        </p:nvSpPr>
        <p:spPr>
          <a:xfrm>
            <a:off x="502920" y="6510528"/>
            <a:ext cx="7315200" cy="274320"/>
          </a:xfrm>
          <a:prstGeom prst="rect">
            <a:avLst/>
          </a:prstGeom>
          <a:noFill/>
        </p:spPr>
        <p:txBody>
          <a:bodyPr wrap="square">
            <a:spAutoFit/>
          </a:bodyPr>
          <a:lstStyle/>
          <a:p>
            <a:pPr algn="l"/>
            <a:r>
              <a:rPr sz="900" b="0">
                <a:solidFill>
                  <a:srgbClr val="6B7680"/>
                </a:solidFill>
                <a:latin typeface="Yu Gothic"/>
              </a:rPr>
              <a:t>画像特徴量を用いた店頭広告に対する通行人関心度推定手法の提案</a:t>
            </a:r>
          </a:p>
        </p:txBody>
      </p:sp>
      <p:sp>
        <p:nvSpPr>
          <p:cNvPr id="8" name="TextBox 7"/>
          <p:cNvSpPr txBox="1"/>
          <p:nvPr/>
        </p:nvSpPr>
        <p:spPr>
          <a:xfrm>
            <a:off x="640080" y="1463040"/>
            <a:ext cx="10881360" cy="3657600"/>
          </a:xfrm>
          <a:prstGeom prst="rect">
            <a:avLst/>
          </a:prstGeom>
          <a:noFill/>
        </p:spPr>
        <p:txBody>
          <a:bodyPr wrap="square">
            <a:spAutoFit/>
          </a:bodyPr>
          <a:lstStyle/>
          <a:p>
            <a:pPr>
              <a:spcAft>
                <a:spcPts val="1000"/>
              </a:spcAft>
            </a:pPr>
            <a:r>
              <a:rPr sz="1700">
                <a:solidFill>
                  <a:srgbClr val="2C333A"/>
                </a:solidFill>
                <a:latin typeface="Yu Gothic"/>
              </a:rPr>
              <a:t>・Ultralytics, "YOLOv11," https://docs.ultralytics.com/ , 2026年閲覧</a:t>
            </a:r>
          </a:p>
          <a:p>
            <a:pPr>
              <a:spcAft>
                <a:spcPts val="1000"/>
              </a:spcAft>
            </a:pPr>
            <a:r>
              <a:rPr sz="1700">
                <a:solidFill>
                  <a:srgbClr val="2C333A"/>
                </a:solidFill>
                <a:latin typeface="Yu Gothic"/>
              </a:rPr>
              <a:t>・Y. Zhang et al., "ByteTrack: Multi-Object Tracking by Associating Every Detection Box," ECCV 2022.</a:t>
            </a:r>
          </a:p>
          <a:p>
            <a:pPr>
              <a:spcAft>
                <a:spcPts val="1000"/>
              </a:spcAft>
            </a:pPr>
            <a:r>
              <a:rPr sz="1700">
                <a:solidFill>
                  <a:srgbClr val="2C333A"/>
                </a:solidFill>
                <a:latin typeface="Yu Gothic"/>
              </a:rPr>
              <a:t>・Google, "MediaPipe Face Mesh," https://ai.google.dev/edge/mediapipe , 2026年閲覧</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TextBox 1"/>
          <p:cNvSpPr txBox="1"/>
          <p:nvPr/>
        </p:nvSpPr>
        <p:spPr>
          <a:xfrm>
            <a:off x="914400" y="2926080"/>
            <a:ext cx="10332720" cy="1097280"/>
          </a:xfrm>
          <a:prstGeom prst="rect">
            <a:avLst/>
          </a:prstGeom>
          <a:noFill/>
        </p:spPr>
        <p:txBody>
          <a:bodyPr wrap="square">
            <a:spAutoFit/>
          </a:bodyPr>
          <a:lstStyle/>
          <a:p>
            <a:pPr algn="ctr"/>
            <a:r>
              <a:rPr sz="3200" b="1">
                <a:solidFill>
                  <a:srgbClr val="FFFFFF"/>
                </a:solidFill>
                <a:latin typeface="Yu Gothic"/>
              </a:rPr>
              <a:t>ご清聴ありがとうございました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